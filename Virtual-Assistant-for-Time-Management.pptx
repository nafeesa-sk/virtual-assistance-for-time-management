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Bitter Medium" panose="020B0604020202020204" charset="0"/>
      <p:regular r:id="rId13"/>
    </p:embeddedFont>
    <p:embeddedFont>
      <p:font typeface="Open Sans" panose="020B0606030504020204" pitchFamily="3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7" d="100"/>
          <a:sy n="77" d="100"/>
        </p:scale>
        <p:origin x="60" y="40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5390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564011"/>
            <a:ext cx="7556421" cy="1417558"/>
          </a:xfrm>
          <a:prstGeom prst="rect">
            <a:avLst/>
          </a:prstGeom>
          <a:noFill/>
          <a:ln/>
        </p:spPr>
        <p:txBody>
          <a:bodyPr wrap="square" lIns="0" tIns="0" rIns="0" bIns="0" rtlCol="0" anchor="t"/>
          <a:lstStyle/>
          <a:p>
            <a:pPr marL="0" indent="0" algn="l">
              <a:lnSpc>
                <a:spcPts val="5550"/>
              </a:lnSpc>
              <a:buNone/>
            </a:pPr>
            <a:r>
              <a:rPr lang="en-US" sz="4450" kern="0" spc="-134" dirty="0">
                <a:solidFill>
                  <a:srgbClr val="2C3F42"/>
                </a:solidFill>
                <a:latin typeface="Bitter Medium" pitchFamily="34" charset="0"/>
                <a:ea typeface="Bitter Medium" pitchFamily="34" charset="-122"/>
                <a:cs typeface="Bitter Medium" pitchFamily="34" charset="-120"/>
              </a:rPr>
              <a:t>Virtual Assistant for Time Management</a:t>
            </a:r>
            <a:endParaRPr lang="en-US" sz="4450" dirty="0"/>
          </a:p>
        </p:txBody>
      </p:sp>
      <p:sp>
        <p:nvSpPr>
          <p:cNvPr id="4" name="Text 1"/>
          <p:cNvSpPr/>
          <p:nvPr/>
        </p:nvSpPr>
        <p:spPr>
          <a:xfrm>
            <a:off x="6280190" y="4321731"/>
            <a:ext cx="7556421" cy="725805"/>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Introducing a Python-based desktop interface that optimizes your daily schedule.</a:t>
            </a:r>
            <a:endParaRPr lang="en-US" sz="1750" dirty="0"/>
          </a:p>
        </p:txBody>
      </p:sp>
      <p:sp>
        <p:nvSpPr>
          <p:cNvPr id="5" name="Text 2"/>
          <p:cNvSpPr/>
          <p:nvPr/>
        </p:nvSpPr>
        <p:spPr>
          <a:xfrm>
            <a:off x="6280190" y="5302687"/>
            <a:ext cx="7556421" cy="362903"/>
          </a:xfrm>
          <a:prstGeom prst="rect">
            <a:avLst/>
          </a:prstGeom>
          <a:noFill/>
          <a:ln/>
        </p:spPr>
        <p:txBody>
          <a:bodyPr wrap="non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Smart, intuitive, and built to maximize your productivity with ease.</a:t>
            </a:r>
            <a:endParaRPr lang="en-US" sz="1750" dirty="0"/>
          </a:p>
        </p:txBody>
      </p:sp>
      <p:pic>
        <p:nvPicPr>
          <p:cNvPr id="7" name="Picture 6">
            <a:extLst>
              <a:ext uri="{FF2B5EF4-FFF2-40B4-BE49-F238E27FC236}">
                <a16:creationId xmlns:a16="http://schemas.microsoft.com/office/drawing/2014/main" id="{A67088E6-5502-638F-CD87-51EDF8D21E42}"/>
              </a:ext>
            </a:extLst>
          </p:cNvPr>
          <p:cNvPicPr>
            <a:picLocks noChangeAspect="1"/>
          </p:cNvPicPr>
          <p:nvPr/>
        </p:nvPicPr>
        <p:blipFill>
          <a:blip r:embed="rId4"/>
          <a:stretch>
            <a:fillRect/>
          </a:stretch>
        </p:blipFill>
        <p:spPr>
          <a:xfrm>
            <a:off x="11283742" y="7394457"/>
            <a:ext cx="3299113" cy="72580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8F0">
              <a:alpha val="85000"/>
            </a:srgbClr>
          </a:solidFill>
          <a:ln/>
        </p:spPr>
      </p:sp>
      <p:sp>
        <p:nvSpPr>
          <p:cNvPr id="4" name="Text 1"/>
          <p:cNvSpPr/>
          <p:nvPr/>
        </p:nvSpPr>
        <p:spPr>
          <a:xfrm>
            <a:off x="793790" y="2368391"/>
            <a:ext cx="5670590" cy="708779"/>
          </a:xfrm>
          <a:prstGeom prst="rect">
            <a:avLst/>
          </a:prstGeom>
          <a:noFill/>
          <a:ln/>
        </p:spPr>
        <p:txBody>
          <a:bodyPr wrap="none" lIns="0" tIns="0" rIns="0" bIns="0" rtlCol="0" anchor="t"/>
          <a:lstStyle/>
          <a:p>
            <a:pPr marL="0" indent="0" algn="l">
              <a:lnSpc>
                <a:spcPts val="5550"/>
              </a:lnSpc>
              <a:buNone/>
            </a:pPr>
            <a:r>
              <a:rPr lang="en-US" sz="4450" kern="0" spc="-134" dirty="0">
                <a:solidFill>
                  <a:srgbClr val="2C3F42"/>
                </a:solidFill>
                <a:latin typeface="Bitter Medium" pitchFamily="34" charset="0"/>
                <a:ea typeface="Bitter Medium" pitchFamily="34" charset="-122"/>
                <a:cs typeface="Bitter Medium" pitchFamily="34" charset="-120"/>
              </a:rPr>
              <a:t>Meet Our Project Team</a:t>
            </a:r>
            <a:endParaRPr lang="en-US" sz="4450" dirty="0"/>
          </a:p>
        </p:txBody>
      </p:sp>
      <p:sp>
        <p:nvSpPr>
          <p:cNvPr id="5" name="Shape 2"/>
          <p:cNvSpPr/>
          <p:nvPr/>
        </p:nvSpPr>
        <p:spPr>
          <a:xfrm>
            <a:off x="793790" y="3672483"/>
            <a:ext cx="510302" cy="510302"/>
          </a:xfrm>
          <a:prstGeom prst="roundRect">
            <a:avLst>
              <a:gd name="adj" fmla="val 18669"/>
            </a:avLst>
          </a:prstGeom>
          <a:solidFill>
            <a:srgbClr val="FCE2CF"/>
          </a:solidFill>
          <a:ln w="7620">
            <a:solidFill>
              <a:srgbClr val="E2C8B5"/>
            </a:solidFill>
            <a:prstDash val="solid"/>
          </a:ln>
        </p:spPr>
      </p:sp>
      <p:pic>
        <p:nvPicPr>
          <p:cNvPr id="6" name="Image 1" descr="preencoded.png"/>
          <p:cNvPicPr>
            <a:picLocks noChangeAspect="1"/>
          </p:cNvPicPr>
          <p:nvPr/>
        </p:nvPicPr>
        <p:blipFill>
          <a:blip r:embed="rId4"/>
          <a:stretch>
            <a:fillRect/>
          </a:stretch>
        </p:blipFill>
        <p:spPr>
          <a:xfrm>
            <a:off x="878860" y="3714988"/>
            <a:ext cx="340162" cy="425291"/>
          </a:xfrm>
          <a:prstGeom prst="rect">
            <a:avLst/>
          </a:prstGeom>
        </p:spPr>
      </p:pic>
      <p:sp>
        <p:nvSpPr>
          <p:cNvPr id="7" name="Text 3"/>
          <p:cNvSpPr/>
          <p:nvPr/>
        </p:nvSpPr>
        <p:spPr>
          <a:xfrm>
            <a:off x="1530906" y="3672483"/>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KALLURU LAHARI</a:t>
            </a:r>
            <a:endParaRPr lang="en-US" sz="2200" dirty="0"/>
          </a:p>
        </p:txBody>
      </p:sp>
      <p:sp>
        <p:nvSpPr>
          <p:cNvPr id="8" name="Text 4"/>
          <p:cNvSpPr/>
          <p:nvPr/>
        </p:nvSpPr>
        <p:spPr>
          <a:xfrm>
            <a:off x="1530906" y="4162901"/>
            <a:ext cx="5670947" cy="362903"/>
          </a:xfrm>
          <a:prstGeom prst="rect">
            <a:avLst/>
          </a:prstGeom>
          <a:noFill/>
          <a:ln/>
        </p:spPr>
        <p:txBody>
          <a:bodyPr wrap="non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AP223110011633</a:t>
            </a:r>
            <a:endParaRPr lang="en-US" sz="1750" dirty="0"/>
          </a:p>
        </p:txBody>
      </p:sp>
      <p:sp>
        <p:nvSpPr>
          <p:cNvPr id="9" name="Shape 5"/>
          <p:cNvSpPr/>
          <p:nvPr/>
        </p:nvSpPr>
        <p:spPr>
          <a:xfrm>
            <a:off x="7428667" y="3672483"/>
            <a:ext cx="510302" cy="510302"/>
          </a:xfrm>
          <a:prstGeom prst="roundRect">
            <a:avLst>
              <a:gd name="adj" fmla="val 18669"/>
            </a:avLst>
          </a:prstGeom>
          <a:solidFill>
            <a:srgbClr val="FCE2CF"/>
          </a:solidFill>
          <a:ln w="7620">
            <a:solidFill>
              <a:srgbClr val="E2C8B5"/>
            </a:solidFill>
            <a:prstDash val="solid"/>
          </a:ln>
        </p:spPr>
      </p:sp>
      <p:pic>
        <p:nvPicPr>
          <p:cNvPr id="10" name="Image 2" descr="preencoded.png"/>
          <p:cNvPicPr>
            <a:picLocks noChangeAspect="1"/>
          </p:cNvPicPr>
          <p:nvPr/>
        </p:nvPicPr>
        <p:blipFill>
          <a:blip r:embed="rId5"/>
          <a:stretch>
            <a:fillRect/>
          </a:stretch>
        </p:blipFill>
        <p:spPr>
          <a:xfrm>
            <a:off x="7513737" y="3714988"/>
            <a:ext cx="340162" cy="425291"/>
          </a:xfrm>
          <a:prstGeom prst="rect">
            <a:avLst/>
          </a:prstGeom>
        </p:spPr>
      </p:pic>
      <p:sp>
        <p:nvSpPr>
          <p:cNvPr id="11" name="Text 6"/>
          <p:cNvSpPr/>
          <p:nvPr/>
        </p:nvSpPr>
        <p:spPr>
          <a:xfrm>
            <a:off x="8165783" y="3672483"/>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SHAIK NAFEESA</a:t>
            </a:r>
            <a:endParaRPr lang="en-US" sz="2200" dirty="0"/>
          </a:p>
        </p:txBody>
      </p:sp>
      <p:sp>
        <p:nvSpPr>
          <p:cNvPr id="12" name="Text 7"/>
          <p:cNvSpPr/>
          <p:nvPr/>
        </p:nvSpPr>
        <p:spPr>
          <a:xfrm>
            <a:off x="8165783" y="4162901"/>
            <a:ext cx="5670947" cy="362903"/>
          </a:xfrm>
          <a:prstGeom prst="rect">
            <a:avLst/>
          </a:prstGeom>
          <a:noFill/>
          <a:ln/>
        </p:spPr>
        <p:txBody>
          <a:bodyPr wrap="non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AP23110011550</a:t>
            </a:r>
            <a:endParaRPr lang="en-US" sz="1750" dirty="0"/>
          </a:p>
        </p:txBody>
      </p:sp>
      <p:sp>
        <p:nvSpPr>
          <p:cNvPr id="13" name="Shape 8"/>
          <p:cNvSpPr/>
          <p:nvPr/>
        </p:nvSpPr>
        <p:spPr>
          <a:xfrm>
            <a:off x="793790" y="5007769"/>
            <a:ext cx="510302" cy="510302"/>
          </a:xfrm>
          <a:prstGeom prst="roundRect">
            <a:avLst>
              <a:gd name="adj" fmla="val 18669"/>
            </a:avLst>
          </a:prstGeom>
          <a:solidFill>
            <a:srgbClr val="FCE2CF"/>
          </a:solidFill>
          <a:ln w="7620">
            <a:solidFill>
              <a:srgbClr val="E2C8B5"/>
            </a:solidFill>
            <a:prstDash val="solid"/>
          </a:ln>
        </p:spPr>
      </p:sp>
      <p:pic>
        <p:nvPicPr>
          <p:cNvPr id="14" name="Image 3" descr="preencoded.png"/>
          <p:cNvPicPr>
            <a:picLocks noChangeAspect="1"/>
          </p:cNvPicPr>
          <p:nvPr/>
        </p:nvPicPr>
        <p:blipFill>
          <a:blip r:embed="rId6"/>
          <a:stretch>
            <a:fillRect/>
          </a:stretch>
        </p:blipFill>
        <p:spPr>
          <a:xfrm>
            <a:off x="878860" y="5050274"/>
            <a:ext cx="340162" cy="425291"/>
          </a:xfrm>
          <a:prstGeom prst="rect">
            <a:avLst/>
          </a:prstGeom>
        </p:spPr>
      </p:pic>
      <p:sp>
        <p:nvSpPr>
          <p:cNvPr id="15" name="Text 9"/>
          <p:cNvSpPr/>
          <p:nvPr/>
        </p:nvSpPr>
        <p:spPr>
          <a:xfrm>
            <a:off x="1530906" y="5007769"/>
            <a:ext cx="3353038"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PURNANAND KUMAR SAH</a:t>
            </a:r>
            <a:endParaRPr lang="en-US" sz="2200" dirty="0"/>
          </a:p>
        </p:txBody>
      </p:sp>
      <p:sp>
        <p:nvSpPr>
          <p:cNvPr id="16" name="Text 10"/>
          <p:cNvSpPr/>
          <p:nvPr/>
        </p:nvSpPr>
        <p:spPr>
          <a:xfrm>
            <a:off x="1530906" y="5498187"/>
            <a:ext cx="5670947" cy="362903"/>
          </a:xfrm>
          <a:prstGeom prst="rect">
            <a:avLst/>
          </a:prstGeom>
          <a:noFill/>
          <a:ln/>
        </p:spPr>
        <p:txBody>
          <a:bodyPr wrap="non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AP23110011551</a:t>
            </a:r>
            <a:endParaRPr lang="en-US" sz="1750" dirty="0"/>
          </a:p>
        </p:txBody>
      </p:sp>
      <p:sp>
        <p:nvSpPr>
          <p:cNvPr id="17" name="Shape 11"/>
          <p:cNvSpPr/>
          <p:nvPr/>
        </p:nvSpPr>
        <p:spPr>
          <a:xfrm>
            <a:off x="7428667" y="5007769"/>
            <a:ext cx="510302" cy="510302"/>
          </a:xfrm>
          <a:prstGeom prst="roundRect">
            <a:avLst>
              <a:gd name="adj" fmla="val 18669"/>
            </a:avLst>
          </a:prstGeom>
          <a:solidFill>
            <a:srgbClr val="FCE2CF"/>
          </a:solidFill>
          <a:ln w="7620">
            <a:solidFill>
              <a:srgbClr val="E2C8B5"/>
            </a:solidFill>
            <a:prstDash val="solid"/>
          </a:ln>
        </p:spPr>
      </p:sp>
      <p:pic>
        <p:nvPicPr>
          <p:cNvPr id="18" name="Image 4" descr="preencoded.png"/>
          <p:cNvPicPr>
            <a:picLocks noChangeAspect="1"/>
          </p:cNvPicPr>
          <p:nvPr/>
        </p:nvPicPr>
        <p:blipFill>
          <a:blip r:embed="rId7"/>
          <a:stretch>
            <a:fillRect/>
          </a:stretch>
        </p:blipFill>
        <p:spPr>
          <a:xfrm>
            <a:off x="7513737" y="5050274"/>
            <a:ext cx="340162" cy="425291"/>
          </a:xfrm>
          <a:prstGeom prst="rect">
            <a:avLst/>
          </a:prstGeom>
        </p:spPr>
      </p:pic>
      <p:sp>
        <p:nvSpPr>
          <p:cNvPr id="19" name="Text 12"/>
          <p:cNvSpPr/>
          <p:nvPr/>
        </p:nvSpPr>
        <p:spPr>
          <a:xfrm>
            <a:off x="8165783" y="5007769"/>
            <a:ext cx="3158966"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JAY BARDHAN GOHIWAR</a:t>
            </a:r>
            <a:endParaRPr lang="en-US" sz="2200" dirty="0"/>
          </a:p>
        </p:txBody>
      </p:sp>
      <p:sp>
        <p:nvSpPr>
          <p:cNvPr id="20" name="Text 13"/>
          <p:cNvSpPr/>
          <p:nvPr/>
        </p:nvSpPr>
        <p:spPr>
          <a:xfrm>
            <a:off x="8165783" y="5498187"/>
            <a:ext cx="5670947" cy="362903"/>
          </a:xfrm>
          <a:prstGeom prst="rect">
            <a:avLst/>
          </a:prstGeom>
          <a:noFill/>
          <a:ln/>
        </p:spPr>
        <p:txBody>
          <a:bodyPr wrap="non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AP23110011675</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729746"/>
            <a:ext cx="7556421" cy="978218"/>
          </a:xfrm>
          <a:prstGeom prst="rect">
            <a:avLst/>
          </a:prstGeom>
          <a:noFill/>
          <a:ln/>
        </p:spPr>
        <p:txBody>
          <a:bodyPr wrap="none" lIns="0" tIns="0" rIns="0" bIns="0" rtlCol="0" anchor="t"/>
          <a:lstStyle/>
          <a:p>
            <a:pPr marL="0" indent="0" algn="l">
              <a:lnSpc>
                <a:spcPts val="7700"/>
              </a:lnSpc>
              <a:buNone/>
            </a:pPr>
            <a:r>
              <a:rPr lang="en-US" sz="6150" kern="0" spc="-185" dirty="0">
                <a:solidFill>
                  <a:srgbClr val="2C3F42"/>
                </a:solidFill>
                <a:latin typeface="Bitter Medium" pitchFamily="34" charset="0"/>
                <a:ea typeface="Bitter Medium" pitchFamily="34" charset="-122"/>
                <a:cs typeface="Bitter Medium" pitchFamily="34" charset="-120"/>
              </a:rPr>
              <a:t>Our Objective</a:t>
            </a:r>
            <a:endParaRPr lang="en-US" sz="6150" dirty="0"/>
          </a:p>
        </p:txBody>
      </p:sp>
      <p:sp>
        <p:nvSpPr>
          <p:cNvPr id="4" name="Text 1"/>
          <p:cNvSpPr/>
          <p:nvPr/>
        </p:nvSpPr>
        <p:spPr>
          <a:xfrm>
            <a:off x="793790" y="4048125"/>
            <a:ext cx="7556421" cy="1451610"/>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To develop a voice-enabled time management assistant that allows users to efficiently schedule tasks, intelligently avoid overlaps with class routines, and provide personalized suggestions for optimal time slots based on availability and task duration.</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8F0">
              <a:alpha val="85000"/>
            </a:srgbClr>
          </a:solidFill>
          <a:ln/>
        </p:spPr>
      </p:sp>
      <p:sp>
        <p:nvSpPr>
          <p:cNvPr id="4" name="Text 1"/>
          <p:cNvSpPr/>
          <p:nvPr/>
        </p:nvSpPr>
        <p:spPr>
          <a:xfrm>
            <a:off x="552569" y="434340"/>
            <a:ext cx="5193387" cy="493276"/>
          </a:xfrm>
          <a:prstGeom prst="rect">
            <a:avLst/>
          </a:prstGeom>
          <a:noFill/>
          <a:ln/>
        </p:spPr>
        <p:txBody>
          <a:bodyPr wrap="none" lIns="0" tIns="0" rIns="0" bIns="0" rtlCol="0" anchor="t"/>
          <a:lstStyle/>
          <a:p>
            <a:pPr marL="0" indent="0" algn="l">
              <a:lnSpc>
                <a:spcPts val="3850"/>
              </a:lnSpc>
              <a:buNone/>
            </a:pPr>
            <a:r>
              <a:rPr lang="en-US" sz="3100" kern="0" spc="-93" dirty="0">
                <a:solidFill>
                  <a:srgbClr val="2C3F42"/>
                </a:solidFill>
                <a:latin typeface="Bitter Medium" pitchFamily="34" charset="0"/>
                <a:ea typeface="Bitter Medium" pitchFamily="34" charset="-122"/>
                <a:cs typeface="Bitter Medium" pitchFamily="34" charset="-120"/>
              </a:rPr>
              <a:t>Smart Scheduling Technology</a:t>
            </a:r>
            <a:endParaRPr lang="en-US" sz="3100" dirty="0"/>
          </a:p>
        </p:txBody>
      </p:sp>
      <p:pic>
        <p:nvPicPr>
          <p:cNvPr id="5" name="Image 1" descr="preencoded.png"/>
          <p:cNvPicPr>
            <a:picLocks noChangeAspect="1"/>
          </p:cNvPicPr>
          <p:nvPr/>
        </p:nvPicPr>
        <p:blipFill>
          <a:blip r:embed="rId4"/>
          <a:stretch>
            <a:fillRect/>
          </a:stretch>
        </p:blipFill>
        <p:spPr>
          <a:xfrm>
            <a:off x="552569" y="1164431"/>
            <a:ext cx="789384" cy="947261"/>
          </a:xfrm>
          <a:prstGeom prst="rect">
            <a:avLst/>
          </a:prstGeom>
        </p:spPr>
      </p:pic>
      <p:sp>
        <p:nvSpPr>
          <p:cNvPr id="6" name="Text 2"/>
          <p:cNvSpPr/>
          <p:nvPr/>
        </p:nvSpPr>
        <p:spPr>
          <a:xfrm>
            <a:off x="1578769" y="1322308"/>
            <a:ext cx="1973580" cy="246698"/>
          </a:xfrm>
          <a:prstGeom prst="rect">
            <a:avLst/>
          </a:prstGeom>
          <a:noFill/>
          <a:ln/>
        </p:spPr>
        <p:txBody>
          <a:bodyPr wrap="none" lIns="0" tIns="0" rIns="0" bIns="0" rtlCol="0" anchor="t"/>
          <a:lstStyle/>
          <a:p>
            <a:pPr marL="0" indent="0" algn="l">
              <a:lnSpc>
                <a:spcPts val="1900"/>
              </a:lnSpc>
              <a:buNone/>
            </a:pPr>
            <a:r>
              <a:rPr lang="en-US" sz="1550" kern="0" spc="-47" dirty="0">
                <a:solidFill>
                  <a:srgbClr val="2B2E3C"/>
                </a:solidFill>
                <a:latin typeface="Bitter Medium" pitchFamily="34" charset="0"/>
                <a:ea typeface="Bitter Medium" pitchFamily="34" charset="-122"/>
                <a:cs typeface="Bitter Medium" pitchFamily="34" charset="-120"/>
              </a:rPr>
              <a:t>Add/Edit/Delete Tasks</a:t>
            </a:r>
            <a:endParaRPr lang="en-US" sz="1550" dirty="0"/>
          </a:p>
        </p:txBody>
      </p:sp>
      <p:sp>
        <p:nvSpPr>
          <p:cNvPr id="7" name="Text 3"/>
          <p:cNvSpPr/>
          <p:nvPr/>
        </p:nvSpPr>
        <p:spPr>
          <a:xfrm>
            <a:off x="1578769" y="1663660"/>
            <a:ext cx="12499062" cy="252532"/>
          </a:xfrm>
          <a:prstGeom prst="rect">
            <a:avLst/>
          </a:prstGeom>
          <a:noFill/>
          <a:ln/>
        </p:spPr>
        <p:txBody>
          <a:bodyPr wrap="none" lIns="0" tIns="0" rIns="0" bIns="0" rtlCol="0" anchor="t"/>
          <a:lstStyle/>
          <a:p>
            <a:pPr marL="0" indent="0" algn="l">
              <a:lnSpc>
                <a:spcPts val="1950"/>
              </a:lnSpc>
              <a:buNone/>
            </a:pPr>
            <a:r>
              <a:rPr lang="en-US" sz="1200" kern="0" spc="-25" dirty="0">
                <a:solidFill>
                  <a:srgbClr val="2B2E3C"/>
                </a:solidFill>
                <a:latin typeface="Open Sans" pitchFamily="34" charset="0"/>
                <a:ea typeface="Open Sans" pitchFamily="34" charset="-122"/>
                <a:cs typeface="Open Sans" pitchFamily="34" charset="-120"/>
              </a:rPr>
              <a:t>Easily manage tasks anytime with simple controls.</a:t>
            </a:r>
            <a:endParaRPr lang="en-US" sz="1200" dirty="0"/>
          </a:p>
        </p:txBody>
      </p:sp>
      <p:pic>
        <p:nvPicPr>
          <p:cNvPr id="8" name="Image 2" descr="preencoded.png"/>
          <p:cNvPicPr>
            <a:picLocks noChangeAspect="1"/>
          </p:cNvPicPr>
          <p:nvPr/>
        </p:nvPicPr>
        <p:blipFill>
          <a:blip r:embed="rId5"/>
          <a:stretch>
            <a:fillRect/>
          </a:stretch>
        </p:blipFill>
        <p:spPr>
          <a:xfrm>
            <a:off x="552569" y="2111693"/>
            <a:ext cx="789384" cy="947261"/>
          </a:xfrm>
          <a:prstGeom prst="rect">
            <a:avLst/>
          </a:prstGeom>
        </p:spPr>
      </p:pic>
      <p:sp>
        <p:nvSpPr>
          <p:cNvPr id="9" name="Text 4"/>
          <p:cNvSpPr/>
          <p:nvPr/>
        </p:nvSpPr>
        <p:spPr>
          <a:xfrm>
            <a:off x="1578769" y="2269569"/>
            <a:ext cx="1973580" cy="246698"/>
          </a:xfrm>
          <a:prstGeom prst="rect">
            <a:avLst/>
          </a:prstGeom>
          <a:noFill/>
          <a:ln/>
        </p:spPr>
        <p:txBody>
          <a:bodyPr wrap="none" lIns="0" tIns="0" rIns="0" bIns="0" rtlCol="0" anchor="t"/>
          <a:lstStyle/>
          <a:p>
            <a:pPr marL="0" indent="0" algn="l">
              <a:lnSpc>
                <a:spcPts val="1900"/>
              </a:lnSpc>
              <a:buNone/>
            </a:pPr>
            <a:r>
              <a:rPr lang="en-US" sz="1550" kern="0" spc="-47" dirty="0">
                <a:solidFill>
                  <a:srgbClr val="2B2E3C"/>
                </a:solidFill>
                <a:latin typeface="Bitter Medium" pitchFamily="34" charset="0"/>
                <a:ea typeface="Bitter Medium" pitchFamily="34" charset="-122"/>
                <a:cs typeface="Bitter Medium" pitchFamily="34" charset="-120"/>
              </a:rPr>
              <a:t>Set Class Routine</a:t>
            </a:r>
            <a:endParaRPr lang="en-US" sz="1550" dirty="0"/>
          </a:p>
        </p:txBody>
      </p:sp>
      <p:sp>
        <p:nvSpPr>
          <p:cNvPr id="10" name="Text 5"/>
          <p:cNvSpPr/>
          <p:nvPr/>
        </p:nvSpPr>
        <p:spPr>
          <a:xfrm>
            <a:off x="1578769" y="2610922"/>
            <a:ext cx="12499062" cy="252532"/>
          </a:xfrm>
          <a:prstGeom prst="rect">
            <a:avLst/>
          </a:prstGeom>
          <a:noFill/>
          <a:ln/>
        </p:spPr>
        <p:txBody>
          <a:bodyPr wrap="none" lIns="0" tIns="0" rIns="0" bIns="0" rtlCol="0" anchor="t"/>
          <a:lstStyle/>
          <a:p>
            <a:pPr marL="0" indent="0" algn="l">
              <a:lnSpc>
                <a:spcPts val="1950"/>
              </a:lnSpc>
              <a:buNone/>
            </a:pPr>
            <a:r>
              <a:rPr lang="en-US" sz="1200" kern="0" spc="-25" dirty="0">
                <a:solidFill>
                  <a:srgbClr val="2B2E3C"/>
                </a:solidFill>
                <a:latin typeface="Open Sans" pitchFamily="34" charset="0"/>
                <a:ea typeface="Open Sans" pitchFamily="34" charset="-122"/>
                <a:cs typeface="Open Sans" pitchFamily="34" charset="-120"/>
              </a:rPr>
              <a:t>Integrate your classes to avoid conflicts effortlessly.</a:t>
            </a:r>
            <a:endParaRPr lang="en-US" sz="1200" dirty="0"/>
          </a:p>
        </p:txBody>
      </p:sp>
      <p:pic>
        <p:nvPicPr>
          <p:cNvPr id="11" name="Image 3" descr="preencoded.png"/>
          <p:cNvPicPr>
            <a:picLocks noChangeAspect="1"/>
          </p:cNvPicPr>
          <p:nvPr/>
        </p:nvPicPr>
        <p:blipFill>
          <a:blip r:embed="rId6"/>
          <a:stretch>
            <a:fillRect/>
          </a:stretch>
        </p:blipFill>
        <p:spPr>
          <a:xfrm>
            <a:off x="552569" y="3058954"/>
            <a:ext cx="789384" cy="947261"/>
          </a:xfrm>
          <a:prstGeom prst="rect">
            <a:avLst/>
          </a:prstGeom>
        </p:spPr>
      </p:pic>
      <p:sp>
        <p:nvSpPr>
          <p:cNvPr id="12" name="Text 6"/>
          <p:cNvSpPr/>
          <p:nvPr/>
        </p:nvSpPr>
        <p:spPr>
          <a:xfrm>
            <a:off x="1578769" y="3216831"/>
            <a:ext cx="2401372" cy="246698"/>
          </a:xfrm>
          <a:prstGeom prst="rect">
            <a:avLst/>
          </a:prstGeom>
          <a:noFill/>
          <a:ln/>
        </p:spPr>
        <p:txBody>
          <a:bodyPr wrap="none" lIns="0" tIns="0" rIns="0" bIns="0" rtlCol="0" anchor="t"/>
          <a:lstStyle/>
          <a:p>
            <a:pPr marL="0" indent="0" algn="l">
              <a:lnSpc>
                <a:spcPts val="1900"/>
              </a:lnSpc>
              <a:buNone/>
            </a:pPr>
            <a:r>
              <a:rPr lang="en-US" sz="1550" kern="0" spc="-47" dirty="0">
                <a:solidFill>
                  <a:srgbClr val="2B2E3C"/>
                </a:solidFill>
                <a:latin typeface="Bitter Medium" pitchFamily="34" charset="0"/>
                <a:ea typeface="Bitter Medium" pitchFamily="34" charset="-122"/>
                <a:cs typeface="Bitter Medium" pitchFamily="34" charset="-120"/>
              </a:rPr>
              <a:t>Smart Time Slot Suggestion</a:t>
            </a:r>
            <a:endParaRPr lang="en-US" sz="1550" dirty="0"/>
          </a:p>
        </p:txBody>
      </p:sp>
      <p:sp>
        <p:nvSpPr>
          <p:cNvPr id="13" name="Text 7"/>
          <p:cNvSpPr/>
          <p:nvPr/>
        </p:nvSpPr>
        <p:spPr>
          <a:xfrm>
            <a:off x="1578769" y="3558183"/>
            <a:ext cx="12499062" cy="252532"/>
          </a:xfrm>
          <a:prstGeom prst="rect">
            <a:avLst/>
          </a:prstGeom>
          <a:noFill/>
          <a:ln/>
        </p:spPr>
        <p:txBody>
          <a:bodyPr wrap="none" lIns="0" tIns="0" rIns="0" bIns="0" rtlCol="0" anchor="t"/>
          <a:lstStyle/>
          <a:p>
            <a:pPr marL="0" indent="0" algn="l">
              <a:lnSpc>
                <a:spcPts val="1950"/>
              </a:lnSpc>
              <a:buNone/>
            </a:pPr>
            <a:r>
              <a:rPr lang="en-US" sz="1200" kern="0" spc="-25" dirty="0">
                <a:solidFill>
                  <a:srgbClr val="2B2E3C"/>
                </a:solidFill>
                <a:latin typeface="Open Sans" pitchFamily="34" charset="0"/>
                <a:ea typeface="Open Sans" pitchFamily="34" charset="-122"/>
                <a:cs typeface="Open Sans" pitchFamily="34" charset="-120"/>
              </a:rPr>
              <a:t>Get optimal free slot recommendations automatically.</a:t>
            </a:r>
            <a:endParaRPr lang="en-US" sz="1200" dirty="0"/>
          </a:p>
        </p:txBody>
      </p:sp>
      <p:pic>
        <p:nvPicPr>
          <p:cNvPr id="14" name="Image 4" descr="preencoded.png"/>
          <p:cNvPicPr>
            <a:picLocks noChangeAspect="1"/>
          </p:cNvPicPr>
          <p:nvPr/>
        </p:nvPicPr>
        <p:blipFill>
          <a:blip r:embed="rId7"/>
          <a:stretch>
            <a:fillRect/>
          </a:stretch>
        </p:blipFill>
        <p:spPr>
          <a:xfrm>
            <a:off x="552569" y="4006215"/>
            <a:ext cx="789384" cy="947261"/>
          </a:xfrm>
          <a:prstGeom prst="rect">
            <a:avLst/>
          </a:prstGeom>
        </p:spPr>
      </p:pic>
      <p:sp>
        <p:nvSpPr>
          <p:cNvPr id="15" name="Text 8"/>
          <p:cNvSpPr/>
          <p:nvPr/>
        </p:nvSpPr>
        <p:spPr>
          <a:xfrm>
            <a:off x="1578769" y="4164092"/>
            <a:ext cx="2169914" cy="246698"/>
          </a:xfrm>
          <a:prstGeom prst="rect">
            <a:avLst/>
          </a:prstGeom>
          <a:noFill/>
          <a:ln/>
        </p:spPr>
        <p:txBody>
          <a:bodyPr wrap="none" lIns="0" tIns="0" rIns="0" bIns="0" rtlCol="0" anchor="t"/>
          <a:lstStyle/>
          <a:p>
            <a:pPr marL="0" indent="0" algn="l">
              <a:lnSpc>
                <a:spcPts val="1900"/>
              </a:lnSpc>
              <a:buNone/>
            </a:pPr>
            <a:r>
              <a:rPr lang="en-US" sz="1550" kern="0" spc="-47" dirty="0">
                <a:solidFill>
                  <a:srgbClr val="2B2E3C"/>
                </a:solidFill>
                <a:latin typeface="Bitter Medium" pitchFamily="34" charset="0"/>
                <a:ea typeface="Bitter Medium" pitchFamily="34" charset="-122"/>
                <a:cs typeface="Bitter Medium" pitchFamily="34" charset="-120"/>
              </a:rPr>
              <a:t>Voice Command Support</a:t>
            </a:r>
            <a:endParaRPr lang="en-US" sz="1550" dirty="0"/>
          </a:p>
        </p:txBody>
      </p:sp>
      <p:sp>
        <p:nvSpPr>
          <p:cNvPr id="16" name="Text 9"/>
          <p:cNvSpPr/>
          <p:nvPr/>
        </p:nvSpPr>
        <p:spPr>
          <a:xfrm>
            <a:off x="1578769" y="4505444"/>
            <a:ext cx="12499062" cy="252532"/>
          </a:xfrm>
          <a:prstGeom prst="rect">
            <a:avLst/>
          </a:prstGeom>
          <a:noFill/>
          <a:ln/>
        </p:spPr>
        <p:txBody>
          <a:bodyPr wrap="none" lIns="0" tIns="0" rIns="0" bIns="0" rtlCol="0" anchor="t"/>
          <a:lstStyle/>
          <a:p>
            <a:pPr marL="0" indent="0" algn="l">
              <a:lnSpc>
                <a:spcPts val="1950"/>
              </a:lnSpc>
              <a:buNone/>
            </a:pPr>
            <a:r>
              <a:rPr lang="en-US" sz="1200" kern="0" spc="-25" dirty="0">
                <a:solidFill>
                  <a:srgbClr val="2B2E3C"/>
                </a:solidFill>
                <a:latin typeface="Open Sans" pitchFamily="34" charset="0"/>
                <a:ea typeface="Open Sans" pitchFamily="34" charset="-122"/>
                <a:cs typeface="Open Sans" pitchFamily="34" charset="-120"/>
              </a:rPr>
              <a:t>Schedule tasks hands-free using intuitive voice commands.</a:t>
            </a:r>
            <a:endParaRPr lang="en-US" sz="1200" dirty="0"/>
          </a:p>
        </p:txBody>
      </p:sp>
      <p:pic>
        <p:nvPicPr>
          <p:cNvPr id="17" name="Image 5" descr="preencoded.png"/>
          <p:cNvPicPr>
            <a:picLocks noChangeAspect="1"/>
          </p:cNvPicPr>
          <p:nvPr/>
        </p:nvPicPr>
        <p:blipFill>
          <a:blip r:embed="rId8"/>
          <a:stretch>
            <a:fillRect/>
          </a:stretch>
        </p:blipFill>
        <p:spPr>
          <a:xfrm>
            <a:off x="552569" y="4953476"/>
            <a:ext cx="789384" cy="947261"/>
          </a:xfrm>
          <a:prstGeom prst="rect">
            <a:avLst/>
          </a:prstGeom>
        </p:spPr>
      </p:pic>
      <p:sp>
        <p:nvSpPr>
          <p:cNvPr id="18" name="Text 10"/>
          <p:cNvSpPr/>
          <p:nvPr/>
        </p:nvSpPr>
        <p:spPr>
          <a:xfrm>
            <a:off x="1578769" y="5111353"/>
            <a:ext cx="2055971" cy="246698"/>
          </a:xfrm>
          <a:prstGeom prst="rect">
            <a:avLst/>
          </a:prstGeom>
          <a:noFill/>
          <a:ln/>
        </p:spPr>
        <p:txBody>
          <a:bodyPr wrap="none" lIns="0" tIns="0" rIns="0" bIns="0" rtlCol="0" anchor="t"/>
          <a:lstStyle/>
          <a:p>
            <a:pPr marL="0" indent="0" algn="l">
              <a:lnSpc>
                <a:spcPts val="1900"/>
              </a:lnSpc>
              <a:buNone/>
            </a:pPr>
            <a:r>
              <a:rPr lang="en-US" sz="1550" kern="0" spc="-47" dirty="0">
                <a:solidFill>
                  <a:srgbClr val="2B2E3C"/>
                </a:solidFill>
                <a:latin typeface="Bitter Medium" pitchFamily="34" charset="0"/>
                <a:ea typeface="Bitter Medium" pitchFamily="34" charset="-122"/>
                <a:cs typeface="Bitter Medium" pitchFamily="34" charset="-120"/>
              </a:rPr>
              <a:t>Block Past-Time Entries</a:t>
            </a:r>
            <a:endParaRPr lang="en-US" sz="1550" dirty="0"/>
          </a:p>
        </p:txBody>
      </p:sp>
      <p:sp>
        <p:nvSpPr>
          <p:cNvPr id="19" name="Text 11"/>
          <p:cNvSpPr/>
          <p:nvPr/>
        </p:nvSpPr>
        <p:spPr>
          <a:xfrm>
            <a:off x="1578769" y="5452705"/>
            <a:ext cx="12499062" cy="252532"/>
          </a:xfrm>
          <a:prstGeom prst="rect">
            <a:avLst/>
          </a:prstGeom>
          <a:noFill/>
          <a:ln/>
        </p:spPr>
        <p:txBody>
          <a:bodyPr wrap="none" lIns="0" tIns="0" rIns="0" bIns="0" rtlCol="0" anchor="t"/>
          <a:lstStyle/>
          <a:p>
            <a:pPr marL="0" indent="0" algn="l">
              <a:lnSpc>
                <a:spcPts val="1950"/>
              </a:lnSpc>
              <a:buNone/>
            </a:pPr>
            <a:r>
              <a:rPr lang="en-US" sz="1200" kern="0" spc="-25" dirty="0">
                <a:solidFill>
                  <a:srgbClr val="2B2E3C"/>
                </a:solidFill>
                <a:latin typeface="Open Sans" pitchFamily="34" charset="0"/>
                <a:ea typeface="Open Sans" pitchFamily="34" charset="-122"/>
                <a:cs typeface="Open Sans" pitchFamily="34" charset="-120"/>
              </a:rPr>
              <a:t>Prevent adding tasks for elapsed time periods.</a:t>
            </a:r>
            <a:endParaRPr lang="en-US" sz="1200" dirty="0"/>
          </a:p>
        </p:txBody>
      </p:sp>
      <p:pic>
        <p:nvPicPr>
          <p:cNvPr id="20" name="Image 6" descr="preencoded.png"/>
          <p:cNvPicPr>
            <a:picLocks noChangeAspect="1"/>
          </p:cNvPicPr>
          <p:nvPr/>
        </p:nvPicPr>
        <p:blipFill>
          <a:blip r:embed="rId9"/>
          <a:stretch>
            <a:fillRect/>
          </a:stretch>
        </p:blipFill>
        <p:spPr>
          <a:xfrm>
            <a:off x="552569" y="5900738"/>
            <a:ext cx="789384" cy="947261"/>
          </a:xfrm>
          <a:prstGeom prst="rect">
            <a:avLst/>
          </a:prstGeom>
        </p:spPr>
      </p:pic>
      <p:sp>
        <p:nvSpPr>
          <p:cNvPr id="21" name="Text 12"/>
          <p:cNvSpPr/>
          <p:nvPr/>
        </p:nvSpPr>
        <p:spPr>
          <a:xfrm>
            <a:off x="1578769" y="6058614"/>
            <a:ext cx="1973580" cy="246698"/>
          </a:xfrm>
          <a:prstGeom prst="rect">
            <a:avLst/>
          </a:prstGeom>
          <a:noFill/>
          <a:ln/>
        </p:spPr>
        <p:txBody>
          <a:bodyPr wrap="none" lIns="0" tIns="0" rIns="0" bIns="0" rtlCol="0" anchor="t"/>
          <a:lstStyle/>
          <a:p>
            <a:pPr marL="0" indent="0" algn="l">
              <a:lnSpc>
                <a:spcPts val="1900"/>
              </a:lnSpc>
              <a:buNone/>
            </a:pPr>
            <a:r>
              <a:rPr lang="en-US" sz="1550" kern="0" spc="-47" dirty="0">
                <a:solidFill>
                  <a:srgbClr val="2B2E3C"/>
                </a:solidFill>
                <a:latin typeface="Bitter Medium" pitchFamily="34" charset="0"/>
                <a:ea typeface="Bitter Medium" pitchFamily="34" charset="-122"/>
                <a:cs typeface="Bitter Medium" pitchFamily="34" charset="-120"/>
              </a:rPr>
              <a:t>Prevent Task Overlap</a:t>
            </a:r>
            <a:endParaRPr lang="en-US" sz="1550" dirty="0"/>
          </a:p>
        </p:txBody>
      </p:sp>
      <p:sp>
        <p:nvSpPr>
          <p:cNvPr id="22" name="Text 13"/>
          <p:cNvSpPr/>
          <p:nvPr/>
        </p:nvSpPr>
        <p:spPr>
          <a:xfrm>
            <a:off x="1578769" y="6399967"/>
            <a:ext cx="12499062" cy="252532"/>
          </a:xfrm>
          <a:prstGeom prst="rect">
            <a:avLst/>
          </a:prstGeom>
          <a:noFill/>
          <a:ln/>
        </p:spPr>
        <p:txBody>
          <a:bodyPr wrap="none" lIns="0" tIns="0" rIns="0" bIns="0" rtlCol="0" anchor="t"/>
          <a:lstStyle/>
          <a:p>
            <a:pPr marL="0" indent="0" algn="l">
              <a:lnSpc>
                <a:spcPts val="1950"/>
              </a:lnSpc>
              <a:buNone/>
            </a:pPr>
            <a:r>
              <a:rPr lang="en-US" sz="1200" kern="0" spc="-25" dirty="0">
                <a:solidFill>
                  <a:srgbClr val="2B2E3C"/>
                </a:solidFill>
                <a:latin typeface="Open Sans" pitchFamily="34" charset="0"/>
                <a:ea typeface="Open Sans" pitchFamily="34" charset="-122"/>
                <a:cs typeface="Open Sans" pitchFamily="34" charset="-120"/>
              </a:rPr>
              <a:t>Avoid scheduling conflicts with built-in safeguards.</a:t>
            </a:r>
            <a:endParaRPr lang="en-US" sz="1200" dirty="0"/>
          </a:p>
        </p:txBody>
      </p:sp>
      <p:pic>
        <p:nvPicPr>
          <p:cNvPr id="23" name="Image 7" descr="preencoded.png"/>
          <p:cNvPicPr>
            <a:picLocks noChangeAspect="1"/>
          </p:cNvPicPr>
          <p:nvPr/>
        </p:nvPicPr>
        <p:blipFill>
          <a:blip r:embed="rId10"/>
          <a:stretch>
            <a:fillRect/>
          </a:stretch>
        </p:blipFill>
        <p:spPr>
          <a:xfrm>
            <a:off x="552569" y="6847999"/>
            <a:ext cx="789384" cy="947261"/>
          </a:xfrm>
          <a:prstGeom prst="rect">
            <a:avLst/>
          </a:prstGeom>
        </p:spPr>
      </p:pic>
      <p:sp>
        <p:nvSpPr>
          <p:cNvPr id="24" name="Text 14"/>
          <p:cNvSpPr/>
          <p:nvPr/>
        </p:nvSpPr>
        <p:spPr>
          <a:xfrm>
            <a:off x="1578769" y="7005876"/>
            <a:ext cx="2501741" cy="246698"/>
          </a:xfrm>
          <a:prstGeom prst="rect">
            <a:avLst/>
          </a:prstGeom>
          <a:noFill/>
          <a:ln/>
        </p:spPr>
        <p:txBody>
          <a:bodyPr wrap="none" lIns="0" tIns="0" rIns="0" bIns="0" rtlCol="0" anchor="t"/>
          <a:lstStyle/>
          <a:p>
            <a:pPr marL="0" indent="0" algn="l">
              <a:lnSpc>
                <a:spcPts val="1900"/>
              </a:lnSpc>
              <a:buNone/>
            </a:pPr>
            <a:r>
              <a:rPr lang="en-US" sz="1550" kern="0" spc="-47" dirty="0">
                <a:solidFill>
                  <a:srgbClr val="2B2E3C"/>
                </a:solidFill>
                <a:latin typeface="Bitter Medium" pitchFamily="34" charset="0"/>
                <a:ea typeface="Bitter Medium" pitchFamily="34" charset="-122"/>
                <a:cs typeface="Bitter Medium" pitchFamily="34" charset="-120"/>
              </a:rPr>
              <a:t>View Productivity Dashboard</a:t>
            </a:r>
            <a:endParaRPr lang="en-US" sz="1550" dirty="0"/>
          </a:p>
        </p:txBody>
      </p:sp>
      <p:sp>
        <p:nvSpPr>
          <p:cNvPr id="25" name="Text 15"/>
          <p:cNvSpPr/>
          <p:nvPr/>
        </p:nvSpPr>
        <p:spPr>
          <a:xfrm>
            <a:off x="1578769" y="7347228"/>
            <a:ext cx="12499062" cy="252532"/>
          </a:xfrm>
          <a:prstGeom prst="rect">
            <a:avLst/>
          </a:prstGeom>
          <a:noFill/>
          <a:ln/>
        </p:spPr>
        <p:txBody>
          <a:bodyPr wrap="none" lIns="0" tIns="0" rIns="0" bIns="0" rtlCol="0" anchor="t"/>
          <a:lstStyle/>
          <a:p>
            <a:pPr marL="0" indent="0" algn="l">
              <a:lnSpc>
                <a:spcPts val="1950"/>
              </a:lnSpc>
              <a:buNone/>
            </a:pPr>
            <a:r>
              <a:rPr lang="en-US" sz="1200" kern="0" spc="-25" dirty="0">
                <a:solidFill>
                  <a:srgbClr val="2B2E3C"/>
                </a:solidFill>
                <a:latin typeface="Open Sans" pitchFamily="34" charset="0"/>
                <a:ea typeface="Open Sans" pitchFamily="34" charset="-122"/>
                <a:cs typeface="Open Sans" pitchFamily="34" charset="-120"/>
              </a:rPr>
              <a:t>Monitor your efficiency and progress visually.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8F0">
              <a:alpha val="85000"/>
            </a:srgbClr>
          </a:solidFill>
          <a:ln/>
        </p:spPr>
      </p:sp>
      <p:sp>
        <p:nvSpPr>
          <p:cNvPr id="4" name="Text 1"/>
          <p:cNvSpPr/>
          <p:nvPr/>
        </p:nvSpPr>
        <p:spPr>
          <a:xfrm>
            <a:off x="793790" y="2222421"/>
            <a:ext cx="6824067" cy="708779"/>
          </a:xfrm>
          <a:prstGeom prst="rect">
            <a:avLst/>
          </a:prstGeom>
          <a:noFill/>
          <a:ln/>
        </p:spPr>
        <p:txBody>
          <a:bodyPr wrap="none" lIns="0" tIns="0" rIns="0" bIns="0" rtlCol="0" anchor="t"/>
          <a:lstStyle/>
          <a:p>
            <a:pPr marL="0" indent="0" algn="l">
              <a:lnSpc>
                <a:spcPts val="5550"/>
              </a:lnSpc>
              <a:buNone/>
            </a:pPr>
            <a:r>
              <a:rPr lang="en-US" sz="4450" kern="0" spc="-134" dirty="0">
                <a:solidFill>
                  <a:srgbClr val="2C3F42"/>
                </a:solidFill>
                <a:latin typeface="Bitter Medium" pitchFamily="34" charset="0"/>
                <a:ea typeface="Bitter Medium" pitchFamily="34" charset="-122"/>
                <a:cs typeface="Bitter Medium" pitchFamily="34" charset="-120"/>
              </a:rPr>
              <a:t>Technology Stack Overview</a:t>
            </a:r>
            <a:endParaRPr lang="en-US" sz="4450" dirty="0"/>
          </a:p>
        </p:txBody>
      </p:sp>
      <p:pic>
        <p:nvPicPr>
          <p:cNvPr id="5" name="Image 1" descr="preencoded.png"/>
          <p:cNvPicPr>
            <a:picLocks noChangeAspect="1"/>
          </p:cNvPicPr>
          <p:nvPr/>
        </p:nvPicPr>
        <p:blipFill>
          <a:blip r:embed="rId4"/>
          <a:stretch>
            <a:fillRect/>
          </a:stretch>
        </p:blipFill>
        <p:spPr>
          <a:xfrm>
            <a:off x="793790" y="3271361"/>
            <a:ext cx="566976" cy="566976"/>
          </a:xfrm>
          <a:prstGeom prst="rect">
            <a:avLst/>
          </a:prstGeom>
        </p:spPr>
      </p:pic>
      <p:sp>
        <p:nvSpPr>
          <p:cNvPr id="6" name="Text 2"/>
          <p:cNvSpPr/>
          <p:nvPr/>
        </p:nvSpPr>
        <p:spPr>
          <a:xfrm>
            <a:off x="793790" y="4065151"/>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Core Programming</a:t>
            </a:r>
            <a:endParaRPr lang="en-US" sz="2200" dirty="0"/>
          </a:p>
        </p:txBody>
      </p:sp>
      <p:sp>
        <p:nvSpPr>
          <p:cNvPr id="7" name="Text 3"/>
          <p:cNvSpPr/>
          <p:nvPr/>
        </p:nvSpPr>
        <p:spPr>
          <a:xfrm>
            <a:off x="793790" y="4555569"/>
            <a:ext cx="3005495" cy="1088708"/>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Python powers the interface with clean, maintainable code.</a:t>
            </a:r>
            <a:endParaRPr lang="en-US" sz="1750" dirty="0"/>
          </a:p>
        </p:txBody>
      </p:sp>
      <p:pic>
        <p:nvPicPr>
          <p:cNvPr id="8" name="Image 2" descr="preencoded.png"/>
          <p:cNvPicPr>
            <a:picLocks noChangeAspect="1"/>
          </p:cNvPicPr>
          <p:nvPr/>
        </p:nvPicPr>
        <p:blipFill>
          <a:blip r:embed="rId5"/>
          <a:stretch>
            <a:fillRect/>
          </a:stretch>
        </p:blipFill>
        <p:spPr>
          <a:xfrm>
            <a:off x="4139446" y="3271361"/>
            <a:ext cx="566976" cy="566976"/>
          </a:xfrm>
          <a:prstGeom prst="rect">
            <a:avLst/>
          </a:prstGeom>
        </p:spPr>
      </p:pic>
      <p:sp>
        <p:nvSpPr>
          <p:cNvPr id="9" name="Text 4"/>
          <p:cNvSpPr/>
          <p:nvPr/>
        </p:nvSpPr>
        <p:spPr>
          <a:xfrm>
            <a:off x="4139446" y="4065151"/>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User Interface</a:t>
            </a:r>
            <a:endParaRPr lang="en-US" sz="2200" dirty="0"/>
          </a:p>
        </p:txBody>
      </p:sp>
      <p:sp>
        <p:nvSpPr>
          <p:cNvPr id="10" name="Text 5"/>
          <p:cNvSpPr/>
          <p:nvPr/>
        </p:nvSpPr>
        <p:spPr>
          <a:xfrm>
            <a:off x="4139446" y="4555569"/>
            <a:ext cx="3005614" cy="1088708"/>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Tkinter builds a simple, responsive desktop GUI for ease of use.</a:t>
            </a:r>
            <a:endParaRPr lang="en-US" sz="1750" dirty="0"/>
          </a:p>
        </p:txBody>
      </p:sp>
      <p:pic>
        <p:nvPicPr>
          <p:cNvPr id="11" name="Image 3" descr="preencoded.png"/>
          <p:cNvPicPr>
            <a:picLocks noChangeAspect="1"/>
          </p:cNvPicPr>
          <p:nvPr/>
        </p:nvPicPr>
        <p:blipFill>
          <a:blip r:embed="rId6"/>
          <a:stretch>
            <a:fillRect/>
          </a:stretch>
        </p:blipFill>
        <p:spPr>
          <a:xfrm>
            <a:off x="7485221" y="3271361"/>
            <a:ext cx="566976" cy="566976"/>
          </a:xfrm>
          <a:prstGeom prst="rect">
            <a:avLst/>
          </a:prstGeom>
        </p:spPr>
      </p:pic>
      <p:sp>
        <p:nvSpPr>
          <p:cNvPr id="12" name="Text 6"/>
          <p:cNvSpPr/>
          <p:nvPr/>
        </p:nvSpPr>
        <p:spPr>
          <a:xfrm>
            <a:off x="7485221" y="4065151"/>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Data Management</a:t>
            </a:r>
            <a:endParaRPr lang="en-US" sz="2200" dirty="0"/>
          </a:p>
        </p:txBody>
      </p:sp>
      <p:sp>
        <p:nvSpPr>
          <p:cNvPr id="13" name="Text 7"/>
          <p:cNvSpPr/>
          <p:nvPr/>
        </p:nvSpPr>
        <p:spPr>
          <a:xfrm>
            <a:off x="7485221" y="4555569"/>
            <a:ext cx="3005614" cy="1088708"/>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Pandas handles task data efficiently for processing and analysis.</a:t>
            </a:r>
            <a:endParaRPr lang="en-US" sz="1750" dirty="0"/>
          </a:p>
        </p:txBody>
      </p:sp>
      <p:pic>
        <p:nvPicPr>
          <p:cNvPr id="14" name="Image 4" descr="preencoded.png"/>
          <p:cNvPicPr>
            <a:picLocks noChangeAspect="1"/>
          </p:cNvPicPr>
          <p:nvPr/>
        </p:nvPicPr>
        <p:blipFill>
          <a:blip r:embed="rId7"/>
          <a:stretch>
            <a:fillRect/>
          </a:stretch>
        </p:blipFill>
        <p:spPr>
          <a:xfrm>
            <a:off x="10830997" y="3271361"/>
            <a:ext cx="566976" cy="566976"/>
          </a:xfrm>
          <a:prstGeom prst="rect">
            <a:avLst/>
          </a:prstGeom>
        </p:spPr>
      </p:pic>
      <p:sp>
        <p:nvSpPr>
          <p:cNvPr id="15" name="Text 8"/>
          <p:cNvSpPr/>
          <p:nvPr/>
        </p:nvSpPr>
        <p:spPr>
          <a:xfrm>
            <a:off x="10830997" y="4065151"/>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Voice &amp; Scheduling</a:t>
            </a:r>
            <a:endParaRPr lang="en-US" sz="2200" dirty="0"/>
          </a:p>
        </p:txBody>
      </p:sp>
      <p:sp>
        <p:nvSpPr>
          <p:cNvPr id="16" name="Text 9"/>
          <p:cNvSpPr/>
          <p:nvPr/>
        </p:nvSpPr>
        <p:spPr>
          <a:xfrm>
            <a:off x="10830997" y="4555569"/>
            <a:ext cx="3005614" cy="1451610"/>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SpeechRecognition enables voice commands; datetime and regex manage scheduling logic.</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492091"/>
            <a:ext cx="10224730" cy="708779"/>
          </a:xfrm>
          <a:prstGeom prst="rect">
            <a:avLst/>
          </a:prstGeom>
          <a:noFill/>
          <a:ln/>
        </p:spPr>
        <p:txBody>
          <a:bodyPr wrap="none" lIns="0" tIns="0" rIns="0" bIns="0" rtlCol="0" anchor="t"/>
          <a:lstStyle/>
          <a:p>
            <a:pPr marL="0" indent="0" algn="l">
              <a:lnSpc>
                <a:spcPts val="5550"/>
              </a:lnSpc>
              <a:buNone/>
            </a:pPr>
            <a:r>
              <a:rPr lang="en-US" sz="4450" kern="0" spc="-134" dirty="0">
                <a:solidFill>
                  <a:srgbClr val="2C3F42"/>
                </a:solidFill>
                <a:latin typeface="Bitter Medium" pitchFamily="34" charset="0"/>
                <a:ea typeface="Bitter Medium" pitchFamily="34" charset="-122"/>
                <a:cs typeface="Bitter Medium" pitchFamily="34" charset="-120"/>
              </a:rPr>
              <a:t>Smart Scheduling Technology UI Preview</a:t>
            </a:r>
            <a:endParaRPr lang="en-US" sz="4450" dirty="0"/>
          </a:p>
        </p:txBody>
      </p:sp>
      <p:pic>
        <p:nvPicPr>
          <p:cNvPr id="3" name="Image 0" descr="preencoded.png"/>
          <p:cNvPicPr>
            <a:picLocks noChangeAspect="1"/>
          </p:cNvPicPr>
          <p:nvPr/>
        </p:nvPicPr>
        <p:blipFill>
          <a:blip r:embed="rId3"/>
          <a:stretch>
            <a:fillRect/>
          </a:stretch>
        </p:blipFill>
        <p:spPr>
          <a:xfrm>
            <a:off x="793790" y="2654498"/>
            <a:ext cx="3005495" cy="1857494"/>
          </a:xfrm>
          <a:prstGeom prst="rect">
            <a:avLst/>
          </a:prstGeom>
        </p:spPr>
      </p:pic>
      <p:sp>
        <p:nvSpPr>
          <p:cNvPr id="4" name="Text 1"/>
          <p:cNvSpPr/>
          <p:nvPr/>
        </p:nvSpPr>
        <p:spPr>
          <a:xfrm>
            <a:off x="793790" y="4795480"/>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Dashboard View</a:t>
            </a:r>
            <a:endParaRPr lang="en-US" sz="2200" dirty="0"/>
          </a:p>
        </p:txBody>
      </p:sp>
      <p:sp>
        <p:nvSpPr>
          <p:cNvPr id="5" name="Text 2"/>
          <p:cNvSpPr/>
          <p:nvPr/>
        </p:nvSpPr>
        <p:spPr>
          <a:xfrm>
            <a:off x="793790" y="5285899"/>
            <a:ext cx="3005495" cy="1088708"/>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Visual summary of tasks, progress graphs, and daily scheduling insights.</a:t>
            </a:r>
            <a:endParaRPr lang="en-US" sz="1750" dirty="0"/>
          </a:p>
        </p:txBody>
      </p:sp>
      <p:pic>
        <p:nvPicPr>
          <p:cNvPr id="6" name="Image 1" descr="preencoded.png"/>
          <p:cNvPicPr>
            <a:picLocks noChangeAspect="1"/>
          </p:cNvPicPr>
          <p:nvPr/>
        </p:nvPicPr>
        <p:blipFill>
          <a:blip r:embed="rId4"/>
          <a:stretch>
            <a:fillRect/>
          </a:stretch>
        </p:blipFill>
        <p:spPr>
          <a:xfrm>
            <a:off x="4139446" y="2654498"/>
            <a:ext cx="3005614" cy="1857494"/>
          </a:xfrm>
          <a:prstGeom prst="rect">
            <a:avLst/>
          </a:prstGeom>
        </p:spPr>
      </p:pic>
      <p:sp>
        <p:nvSpPr>
          <p:cNvPr id="7" name="Text 3"/>
          <p:cNvSpPr/>
          <p:nvPr/>
        </p:nvSpPr>
        <p:spPr>
          <a:xfrm>
            <a:off x="4139446" y="4795480"/>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Add Task Form</a:t>
            </a:r>
            <a:endParaRPr lang="en-US" sz="2200" dirty="0"/>
          </a:p>
        </p:txBody>
      </p:sp>
      <p:sp>
        <p:nvSpPr>
          <p:cNvPr id="8" name="Text 4"/>
          <p:cNvSpPr/>
          <p:nvPr/>
        </p:nvSpPr>
        <p:spPr>
          <a:xfrm>
            <a:off x="4139446" y="5285899"/>
            <a:ext cx="3005614" cy="1088708"/>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Simple input fields streamline task creation with clear scheduling options.</a:t>
            </a:r>
            <a:endParaRPr lang="en-US" sz="1750" dirty="0"/>
          </a:p>
        </p:txBody>
      </p:sp>
      <p:pic>
        <p:nvPicPr>
          <p:cNvPr id="9" name="Image 2" descr="preencoded.png"/>
          <p:cNvPicPr>
            <a:picLocks noChangeAspect="1"/>
          </p:cNvPicPr>
          <p:nvPr/>
        </p:nvPicPr>
        <p:blipFill>
          <a:blip r:embed="rId5"/>
          <a:stretch>
            <a:fillRect/>
          </a:stretch>
        </p:blipFill>
        <p:spPr>
          <a:xfrm>
            <a:off x="7485221" y="2654498"/>
            <a:ext cx="3005614" cy="1857494"/>
          </a:xfrm>
          <a:prstGeom prst="rect">
            <a:avLst/>
          </a:prstGeom>
        </p:spPr>
      </p:pic>
      <p:sp>
        <p:nvSpPr>
          <p:cNvPr id="10" name="Text 5"/>
          <p:cNvSpPr/>
          <p:nvPr/>
        </p:nvSpPr>
        <p:spPr>
          <a:xfrm>
            <a:off x="7485221" y="4795480"/>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Productivity Stats</a:t>
            </a:r>
            <a:endParaRPr lang="en-US" sz="2200" dirty="0"/>
          </a:p>
        </p:txBody>
      </p:sp>
      <p:sp>
        <p:nvSpPr>
          <p:cNvPr id="11" name="Text 6"/>
          <p:cNvSpPr/>
          <p:nvPr/>
        </p:nvSpPr>
        <p:spPr>
          <a:xfrm>
            <a:off x="7485221" y="5285899"/>
            <a:ext cx="3005614" cy="1451610"/>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Visual insights into completed vs. pending tasks help users track progress and stay motivated.</a:t>
            </a:r>
            <a:endParaRPr lang="en-US" sz="1750" dirty="0"/>
          </a:p>
        </p:txBody>
      </p:sp>
      <p:pic>
        <p:nvPicPr>
          <p:cNvPr id="12" name="Image 3" descr="preencoded.png"/>
          <p:cNvPicPr>
            <a:picLocks noChangeAspect="1"/>
          </p:cNvPicPr>
          <p:nvPr/>
        </p:nvPicPr>
        <p:blipFill>
          <a:blip r:embed="rId6"/>
          <a:stretch>
            <a:fillRect/>
          </a:stretch>
        </p:blipFill>
        <p:spPr>
          <a:xfrm>
            <a:off x="10830997" y="2654498"/>
            <a:ext cx="3005614" cy="1857494"/>
          </a:xfrm>
          <a:prstGeom prst="rect">
            <a:avLst/>
          </a:prstGeom>
        </p:spPr>
      </p:pic>
      <p:sp>
        <p:nvSpPr>
          <p:cNvPr id="13" name="Text 7"/>
          <p:cNvSpPr/>
          <p:nvPr/>
        </p:nvSpPr>
        <p:spPr>
          <a:xfrm>
            <a:off x="10830997" y="4795480"/>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Class routine set-up</a:t>
            </a:r>
            <a:endParaRPr lang="en-US" sz="2200" dirty="0"/>
          </a:p>
        </p:txBody>
      </p:sp>
      <p:sp>
        <p:nvSpPr>
          <p:cNvPr id="14" name="Text 8"/>
          <p:cNvSpPr/>
          <p:nvPr/>
        </p:nvSpPr>
        <p:spPr>
          <a:xfrm>
            <a:off x="10830997" y="5285899"/>
            <a:ext cx="3005614" cy="725805"/>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Smartly blocks class hours to avoid scheduling conflicts.</a:t>
            </a:r>
            <a:endParaRPr lang="en-US" sz="1750" dirty="0"/>
          </a:p>
        </p:txBody>
      </p:sp>
      <p:pic>
        <p:nvPicPr>
          <p:cNvPr id="17" name="Picture 16">
            <a:extLst>
              <a:ext uri="{FF2B5EF4-FFF2-40B4-BE49-F238E27FC236}">
                <a16:creationId xmlns:a16="http://schemas.microsoft.com/office/drawing/2014/main" id="{544475A0-3E3A-2119-81AE-00EA05D8CF73}"/>
              </a:ext>
            </a:extLst>
          </p:cNvPr>
          <p:cNvPicPr>
            <a:picLocks noChangeAspect="1"/>
          </p:cNvPicPr>
          <p:nvPr/>
        </p:nvPicPr>
        <p:blipFill>
          <a:blip r:embed="rId7"/>
          <a:stretch>
            <a:fillRect/>
          </a:stretch>
        </p:blipFill>
        <p:spPr>
          <a:xfrm>
            <a:off x="11289962" y="7394457"/>
            <a:ext cx="3299113" cy="7258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549003"/>
            <a:ext cx="7460218" cy="708779"/>
          </a:xfrm>
          <a:prstGeom prst="rect">
            <a:avLst/>
          </a:prstGeom>
          <a:noFill/>
          <a:ln/>
        </p:spPr>
        <p:txBody>
          <a:bodyPr wrap="none" lIns="0" tIns="0" rIns="0" bIns="0" rtlCol="0" anchor="t"/>
          <a:lstStyle/>
          <a:p>
            <a:pPr marL="0" indent="0" algn="l">
              <a:lnSpc>
                <a:spcPts val="5550"/>
              </a:lnSpc>
              <a:buNone/>
            </a:pPr>
            <a:r>
              <a:rPr lang="en-US" sz="4450" kern="0" spc="-134" dirty="0">
                <a:solidFill>
                  <a:srgbClr val="2C3F42"/>
                </a:solidFill>
                <a:latin typeface="Bitter Medium" pitchFamily="34" charset="0"/>
                <a:ea typeface="Bitter Medium" pitchFamily="34" charset="-122"/>
                <a:cs typeface="Bitter Medium" pitchFamily="34" charset="-120"/>
              </a:rPr>
              <a:t>Smart Scheduling Technology</a:t>
            </a:r>
            <a:endParaRPr lang="en-US" sz="4450" dirty="0"/>
          </a:p>
        </p:txBody>
      </p:sp>
      <p:pic>
        <p:nvPicPr>
          <p:cNvPr id="4" name="Image 1" descr="preencoded.png"/>
          <p:cNvPicPr>
            <a:picLocks noChangeAspect="1"/>
          </p:cNvPicPr>
          <p:nvPr/>
        </p:nvPicPr>
        <p:blipFill>
          <a:blip r:embed="rId4"/>
          <a:stretch>
            <a:fillRect/>
          </a:stretch>
        </p:blipFill>
        <p:spPr>
          <a:xfrm>
            <a:off x="793790" y="2597944"/>
            <a:ext cx="1134070" cy="1360884"/>
          </a:xfrm>
          <a:prstGeom prst="rect">
            <a:avLst/>
          </a:prstGeom>
        </p:spPr>
      </p:pic>
      <p:sp>
        <p:nvSpPr>
          <p:cNvPr id="5" name="Text 1"/>
          <p:cNvSpPr/>
          <p:nvPr/>
        </p:nvSpPr>
        <p:spPr>
          <a:xfrm>
            <a:off x="2268022" y="2824758"/>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Analyze Availability</a:t>
            </a:r>
            <a:endParaRPr lang="en-US" sz="2200" dirty="0"/>
          </a:p>
        </p:txBody>
      </p:sp>
      <p:sp>
        <p:nvSpPr>
          <p:cNvPr id="6" name="Text 2"/>
          <p:cNvSpPr/>
          <p:nvPr/>
        </p:nvSpPr>
        <p:spPr>
          <a:xfrm>
            <a:off x="2268022" y="3315176"/>
            <a:ext cx="6082189" cy="362903"/>
          </a:xfrm>
          <a:prstGeom prst="rect">
            <a:avLst/>
          </a:prstGeom>
          <a:noFill/>
          <a:ln/>
        </p:spPr>
        <p:txBody>
          <a:bodyPr wrap="non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Scans calendar to identify free time between commitments.</a:t>
            </a:r>
            <a:endParaRPr lang="en-US" sz="1750" dirty="0"/>
          </a:p>
        </p:txBody>
      </p:sp>
      <p:pic>
        <p:nvPicPr>
          <p:cNvPr id="7" name="Image 2" descr="preencoded.png"/>
          <p:cNvPicPr>
            <a:picLocks noChangeAspect="1"/>
          </p:cNvPicPr>
          <p:nvPr/>
        </p:nvPicPr>
        <p:blipFill>
          <a:blip r:embed="rId5"/>
          <a:stretch>
            <a:fillRect/>
          </a:stretch>
        </p:blipFill>
        <p:spPr>
          <a:xfrm>
            <a:off x="793790" y="3958828"/>
            <a:ext cx="1134070" cy="1360884"/>
          </a:xfrm>
          <a:prstGeom prst="rect">
            <a:avLst/>
          </a:prstGeom>
        </p:spPr>
      </p:pic>
      <p:sp>
        <p:nvSpPr>
          <p:cNvPr id="8" name="Text 3"/>
          <p:cNvSpPr/>
          <p:nvPr/>
        </p:nvSpPr>
        <p:spPr>
          <a:xfrm>
            <a:off x="2268022" y="4185642"/>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Prioritize Tasks</a:t>
            </a:r>
            <a:endParaRPr lang="en-US" sz="2200" dirty="0"/>
          </a:p>
        </p:txBody>
      </p:sp>
      <p:sp>
        <p:nvSpPr>
          <p:cNvPr id="9" name="Text 4"/>
          <p:cNvSpPr/>
          <p:nvPr/>
        </p:nvSpPr>
        <p:spPr>
          <a:xfrm>
            <a:off x="2268022" y="4676061"/>
            <a:ext cx="6082189" cy="362903"/>
          </a:xfrm>
          <a:prstGeom prst="rect">
            <a:avLst/>
          </a:prstGeom>
          <a:noFill/>
          <a:ln/>
        </p:spPr>
        <p:txBody>
          <a:bodyPr wrap="non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Ranks tasks based on urgency and duration requirements.</a:t>
            </a:r>
            <a:endParaRPr lang="en-US" sz="1750" dirty="0"/>
          </a:p>
        </p:txBody>
      </p:sp>
      <p:pic>
        <p:nvPicPr>
          <p:cNvPr id="10" name="Image 3" descr="preencoded.png"/>
          <p:cNvPicPr>
            <a:picLocks noChangeAspect="1"/>
          </p:cNvPicPr>
          <p:nvPr/>
        </p:nvPicPr>
        <p:blipFill>
          <a:blip r:embed="rId6"/>
          <a:stretch>
            <a:fillRect/>
          </a:stretch>
        </p:blipFill>
        <p:spPr>
          <a:xfrm>
            <a:off x="793790" y="5319713"/>
            <a:ext cx="1134070" cy="1360884"/>
          </a:xfrm>
          <a:prstGeom prst="rect">
            <a:avLst/>
          </a:prstGeom>
        </p:spPr>
      </p:pic>
      <p:sp>
        <p:nvSpPr>
          <p:cNvPr id="11" name="Text 5"/>
          <p:cNvSpPr/>
          <p:nvPr/>
        </p:nvSpPr>
        <p:spPr>
          <a:xfrm>
            <a:off x="2268022" y="5546527"/>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Suggest Time Slots</a:t>
            </a:r>
            <a:endParaRPr lang="en-US" sz="2200" dirty="0"/>
          </a:p>
        </p:txBody>
      </p:sp>
      <p:sp>
        <p:nvSpPr>
          <p:cNvPr id="12" name="Text 6"/>
          <p:cNvSpPr/>
          <p:nvPr/>
        </p:nvSpPr>
        <p:spPr>
          <a:xfrm>
            <a:off x="2268022" y="6036945"/>
            <a:ext cx="6082189" cy="362903"/>
          </a:xfrm>
          <a:prstGeom prst="rect">
            <a:avLst/>
          </a:prstGeom>
          <a:noFill/>
          <a:ln/>
        </p:spPr>
        <p:txBody>
          <a:bodyPr wrap="non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Recommends best-fit windows to maximize efficiency.</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707594"/>
            <a:ext cx="5670590" cy="708779"/>
          </a:xfrm>
          <a:prstGeom prst="rect">
            <a:avLst/>
          </a:prstGeom>
          <a:noFill/>
          <a:ln/>
        </p:spPr>
        <p:txBody>
          <a:bodyPr wrap="none" lIns="0" tIns="0" rIns="0" bIns="0" rtlCol="0" anchor="t"/>
          <a:lstStyle/>
          <a:p>
            <a:pPr marL="0" indent="0" algn="l">
              <a:lnSpc>
                <a:spcPts val="5550"/>
              </a:lnSpc>
              <a:buNone/>
            </a:pPr>
            <a:r>
              <a:rPr lang="en-US" sz="4450" kern="0" spc="-134" dirty="0">
                <a:solidFill>
                  <a:srgbClr val="2C3F42"/>
                </a:solidFill>
                <a:latin typeface="Bitter Medium" pitchFamily="34" charset="0"/>
                <a:ea typeface="Bitter Medium" pitchFamily="34" charset="-122"/>
                <a:cs typeface="Bitter Medium" pitchFamily="34" charset="-120"/>
              </a:rPr>
              <a:t>Boosting Productivity</a:t>
            </a:r>
            <a:endParaRPr lang="en-US" sz="4450" dirty="0"/>
          </a:p>
        </p:txBody>
      </p:sp>
      <p:sp>
        <p:nvSpPr>
          <p:cNvPr id="3" name="Text 1"/>
          <p:cNvSpPr/>
          <p:nvPr/>
        </p:nvSpPr>
        <p:spPr>
          <a:xfrm>
            <a:off x="2200394" y="4087773"/>
            <a:ext cx="2835235" cy="354330"/>
          </a:xfrm>
          <a:prstGeom prst="rect">
            <a:avLst/>
          </a:prstGeom>
          <a:noFill/>
          <a:ln/>
        </p:spPr>
        <p:txBody>
          <a:bodyPr wrap="none" lIns="0" tIns="0" rIns="0" bIns="0" rtlCol="0" anchor="t"/>
          <a:lstStyle/>
          <a:p>
            <a:pPr marL="0" indent="0" algn="r">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Save Time</a:t>
            </a:r>
            <a:endParaRPr lang="en-US" sz="2200" dirty="0"/>
          </a:p>
        </p:txBody>
      </p:sp>
      <p:sp>
        <p:nvSpPr>
          <p:cNvPr id="4" name="Text 2"/>
          <p:cNvSpPr/>
          <p:nvPr/>
        </p:nvSpPr>
        <p:spPr>
          <a:xfrm>
            <a:off x="793790" y="4578191"/>
            <a:ext cx="4241840" cy="725805"/>
          </a:xfrm>
          <a:prstGeom prst="rect">
            <a:avLst/>
          </a:prstGeom>
          <a:noFill/>
          <a:ln/>
        </p:spPr>
        <p:txBody>
          <a:bodyPr wrap="square" lIns="0" tIns="0" rIns="0" bIns="0" rtlCol="0" anchor="t"/>
          <a:lstStyle/>
          <a:p>
            <a:pPr marL="0" indent="0" algn="r">
              <a:lnSpc>
                <a:spcPts val="2850"/>
              </a:lnSpc>
              <a:buNone/>
            </a:pPr>
            <a:r>
              <a:rPr lang="en-US" sz="1750" kern="0" spc="-36" dirty="0">
                <a:solidFill>
                  <a:srgbClr val="2B2E3C"/>
                </a:solidFill>
                <a:latin typeface="Open Sans" pitchFamily="34" charset="0"/>
                <a:ea typeface="Open Sans" pitchFamily="34" charset="-122"/>
                <a:cs typeface="Open Sans" pitchFamily="34" charset="-120"/>
              </a:rPr>
              <a:t>Reduces manual scheduling by automating task placement.</a:t>
            </a:r>
            <a:endParaRPr lang="en-US" sz="1750" dirty="0"/>
          </a:p>
        </p:txBody>
      </p:sp>
      <p:pic>
        <p:nvPicPr>
          <p:cNvPr id="5" name="Image 0" descr="preencoded.png"/>
          <p:cNvPicPr>
            <a:picLocks noChangeAspect="1"/>
          </p:cNvPicPr>
          <p:nvPr/>
        </p:nvPicPr>
        <p:blipFill>
          <a:blip r:embed="rId3"/>
          <a:stretch>
            <a:fillRect/>
          </a:stretch>
        </p:blipFill>
        <p:spPr>
          <a:xfrm>
            <a:off x="5489258" y="2870002"/>
            <a:ext cx="3651885" cy="3651885"/>
          </a:xfrm>
          <a:prstGeom prst="rect">
            <a:avLst/>
          </a:prstGeom>
        </p:spPr>
      </p:pic>
      <p:sp>
        <p:nvSpPr>
          <p:cNvPr id="6" name="Shape 3"/>
          <p:cNvSpPr/>
          <p:nvPr/>
        </p:nvSpPr>
        <p:spPr>
          <a:xfrm>
            <a:off x="5274231" y="4412456"/>
            <a:ext cx="566976" cy="566976"/>
          </a:xfrm>
          <a:prstGeom prst="roundRect">
            <a:avLst>
              <a:gd name="adj" fmla="val 1611154"/>
            </a:avLst>
          </a:prstGeom>
          <a:solidFill>
            <a:srgbClr val="FCE2CF"/>
          </a:solidFill>
          <a:ln w="7620">
            <a:solidFill>
              <a:srgbClr val="E2C8B5"/>
            </a:solidFill>
            <a:prstDash val="solid"/>
          </a:ln>
        </p:spPr>
      </p:sp>
      <p:pic>
        <p:nvPicPr>
          <p:cNvPr id="7" name="Image 1" descr="preencoded.png"/>
          <p:cNvPicPr>
            <a:picLocks noChangeAspect="1"/>
          </p:cNvPicPr>
          <p:nvPr/>
        </p:nvPicPr>
        <p:blipFill>
          <a:blip r:embed="rId4"/>
          <a:stretch>
            <a:fillRect/>
          </a:stretch>
        </p:blipFill>
        <p:spPr>
          <a:xfrm>
            <a:off x="5430083" y="4536400"/>
            <a:ext cx="255151" cy="318968"/>
          </a:xfrm>
          <a:prstGeom prst="rect">
            <a:avLst/>
          </a:prstGeom>
        </p:spPr>
      </p:pic>
      <p:sp>
        <p:nvSpPr>
          <p:cNvPr id="8" name="Text 4"/>
          <p:cNvSpPr/>
          <p:nvPr/>
        </p:nvSpPr>
        <p:spPr>
          <a:xfrm>
            <a:off x="9481304" y="3089791"/>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Stay Organized</a:t>
            </a:r>
            <a:endParaRPr lang="en-US" sz="2200" dirty="0"/>
          </a:p>
        </p:txBody>
      </p:sp>
      <p:sp>
        <p:nvSpPr>
          <p:cNvPr id="9" name="Text 5"/>
          <p:cNvSpPr/>
          <p:nvPr/>
        </p:nvSpPr>
        <p:spPr>
          <a:xfrm>
            <a:off x="9481304" y="3580209"/>
            <a:ext cx="4355306" cy="725805"/>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Maintains clear, conflict-free daily plans for steady progress.</a:t>
            </a:r>
            <a:endParaRPr lang="en-US" sz="1750" dirty="0"/>
          </a:p>
        </p:txBody>
      </p:sp>
      <p:pic>
        <p:nvPicPr>
          <p:cNvPr id="10" name="Image 2" descr="preencoded.png"/>
          <p:cNvPicPr>
            <a:picLocks noChangeAspect="1"/>
          </p:cNvPicPr>
          <p:nvPr/>
        </p:nvPicPr>
        <p:blipFill>
          <a:blip r:embed="rId5"/>
          <a:stretch>
            <a:fillRect/>
          </a:stretch>
        </p:blipFill>
        <p:spPr>
          <a:xfrm>
            <a:off x="5489258" y="2870002"/>
            <a:ext cx="3651885" cy="3651885"/>
          </a:xfrm>
          <a:prstGeom prst="rect">
            <a:avLst/>
          </a:prstGeom>
        </p:spPr>
      </p:pic>
      <p:sp>
        <p:nvSpPr>
          <p:cNvPr id="11" name="Shape 6"/>
          <p:cNvSpPr/>
          <p:nvPr/>
        </p:nvSpPr>
        <p:spPr>
          <a:xfrm>
            <a:off x="7910393" y="2890361"/>
            <a:ext cx="566976" cy="566976"/>
          </a:xfrm>
          <a:prstGeom prst="roundRect">
            <a:avLst>
              <a:gd name="adj" fmla="val 1611154"/>
            </a:avLst>
          </a:prstGeom>
          <a:solidFill>
            <a:srgbClr val="FCE2CF"/>
          </a:solidFill>
          <a:ln w="7620">
            <a:solidFill>
              <a:srgbClr val="E2C8B5"/>
            </a:solidFill>
            <a:prstDash val="solid"/>
          </a:ln>
        </p:spPr>
      </p:sp>
      <p:pic>
        <p:nvPicPr>
          <p:cNvPr id="12" name="Image 3" descr="preencoded.png"/>
          <p:cNvPicPr>
            <a:picLocks noChangeAspect="1"/>
          </p:cNvPicPr>
          <p:nvPr/>
        </p:nvPicPr>
        <p:blipFill>
          <a:blip r:embed="rId6"/>
          <a:stretch>
            <a:fillRect/>
          </a:stretch>
        </p:blipFill>
        <p:spPr>
          <a:xfrm>
            <a:off x="8066246" y="3014305"/>
            <a:ext cx="255151" cy="318968"/>
          </a:xfrm>
          <a:prstGeom prst="rect">
            <a:avLst/>
          </a:prstGeom>
        </p:spPr>
      </p:pic>
      <p:sp>
        <p:nvSpPr>
          <p:cNvPr id="13" name="Text 7"/>
          <p:cNvSpPr/>
          <p:nvPr/>
        </p:nvSpPr>
        <p:spPr>
          <a:xfrm>
            <a:off x="9481304" y="5085755"/>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Increase Efficiency</a:t>
            </a:r>
            <a:endParaRPr lang="en-US" sz="2200" dirty="0"/>
          </a:p>
        </p:txBody>
      </p:sp>
      <p:sp>
        <p:nvSpPr>
          <p:cNvPr id="14" name="Text 8"/>
          <p:cNvSpPr/>
          <p:nvPr/>
        </p:nvSpPr>
        <p:spPr>
          <a:xfrm>
            <a:off x="9481304" y="5576173"/>
            <a:ext cx="4355306" cy="725805"/>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Helps users focus on priorities and avoid wasted time.</a:t>
            </a:r>
            <a:endParaRPr lang="en-US" sz="1750" dirty="0"/>
          </a:p>
        </p:txBody>
      </p:sp>
      <p:pic>
        <p:nvPicPr>
          <p:cNvPr id="15" name="Image 4" descr="preencoded.png"/>
          <p:cNvPicPr>
            <a:picLocks noChangeAspect="1"/>
          </p:cNvPicPr>
          <p:nvPr/>
        </p:nvPicPr>
        <p:blipFill>
          <a:blip r:embed="rId7"/>
          <a:stretch>
            <a:fillRect/>
          </a:stretch>
        </p:blipFill>
        <p:spPr>
          <a:xfrm>
            <a:off x="5489258" y="2870002"/>
            <a:ext cx="3651885" cy="3651885"/>
          </a:xfrm>
          <a:prstGeom prst="rect">
            <a:avLst/>
          </a:prstGeom>
        </p:spPr>
      </p:pic>
      <p:sp>
        <p:nvSpPr>
          <p:cNvPr id="16" name="Shape 9"/>
          <p:cNvSpPr/>
          <p:nvPr/>
        </p:nvSpPr>
        <p:spPr>
          <a:xfrm>
            <a:off x="7910393" y="5934432"/>
            <a:ext cx="566976" cy="566976"/>
          </a:xfrm>
          <a:prstGeom prst="roundRect">
            <a:avLst>
              <a:gd name="adj" fmla="val 1611154"/>
            </a:avLst>
          </a:prstGeom>
          <a:solidFill>
            <a:srgbClr val="FCE2CF"/>
          </a:solidFill>
          <a:ln w="7620">
            <a:solidFill>
              <a:srgbClr val="E2C8B5"/>
            </a:solidFill>
            <a:prstDash val="solid"/>
          </a:ln>
        </p:spPr>
      </p:sp>
      <p:pic>
        <p:nvPicPr>
          <p:cNvPr id="17" name="Image 5" descr="preencoded.png"/>
          <p:cNvPicPr>
            <a:picLocks noChangeAspect="1"/>
          </p:cNvPicPr>
          <p:nvPr/>
        </p:nvPicPr>
        <p:blipFill>
          <a:blip r:embed="rId8"/>
          <a:stretch>
            <a:fillRect/>
          </a:stretch>
        </p:blipFill>
        <p:spPr>
          <a:xfrm>
            <a:off x="8066246" y="6058376"/>
            <a:ext cx="255151" cy="318968"/>
          </a:xfrm>
          <a:prstGeom prst="rect">
            <a:avLst/>
          </a:prstGeom>
        </p:spPr>
      </p:pic>
      <p:pic>
        <p:nvPicPr>
          <p:cNvPr id="18" name="Picture 17">
            <a:extLst>
              <a:ext uri="{FF2B5EF4-FFF2-40B4-BE49-F238E27FC236}">
                <a16:creationId xmlns:a16="http://schemas.microsoft.com/office/drawing/2014/main" id="{40798CE4-F1C0-D415-AE9B-03E2CC3F156E}"/>
              </a:ext>
            </a:extLst>
          </p:cNvPr>
          <p:cNvPicPr>
            <a:picLocks noChangeAspect="1"/>
          </p:cNvPicPr>
          <p:nvPr/>
        </p:nvPicPr>
        <p:blipFill>
          <a:blip r:embed="rId9"/>
          <a:stretch>
            <a:fillRect/>
          </a:stretch>
        </p:blipFill>
        <p:spPr>
          <a:xfrm>
            <a:off x="11283742" y="7394457"/>
            <a:ext cx="3299113" cy="7258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8F0">
              <a:alpha val="85000"/>
            </a:srgbClr>
          </a:solidFill>
          <a:ln/>
        </p:spPr>
      </p:sp>
      <p:sp>
        <p:nvSpPr>
          <p:cNvPr id="4" name="Text 1"/>
          <p:cNvSpPr/>
          <p:nvPr/>
        </p:nvSpPr>
        <p:spPr>
          <a:xfrm>
            <a:off x="793790" y="1746052"/>
            <a:ext cx="5670590" cy="708779"/>
          </a:xfrm>
          <a:prstGeom prst="rect">
            <a:avLst/>
          </a:prstGeom>
          <a:noFill/>
          <a:ln/>
        </p:spPr>
        <p:txBody>
          <a:bodyPr wrap="none" lIns="0" tIns="0" rIns="0" bIns="0" rtlCol="0" anchor="t"/>
          <a:lstStyle/>
          <a:p>
            <a:pPr marL="0" indent="0" algn="l">
              <a:lnSpc>
                <a:spcPts val="5550"/>
              </a:lnSpc>
              <a:buNone/>
            </a:pPr>
            <a:r>
              <a:rPr lang="en-US" sz="4450" kern="0" spc="-134" dirty="0">
                <a:solidFill>
                  <a:srgbClr val="2C3F42"/>
                </a:solidFill>
                <a:latin typeface="Bitter Medium" pitchFamily="34" charset="0"/>
                <a:ea typeface="Bitter Medium" pitchFamily="34" charset="-122"/>
                <a:cs typeface="Bitter Medium" pitchFamily="34" charset="-120"/>
              </a:rPr>
              <a:t>Conclusion</a:t>
            </a:r>
            <a:endParaRPr lang="en-US" sz="4450" dirty="0"/>
          </a:p>
        </p:txBody>
      </p:sp>
      <p:sp>
        <p:nvSpPr>
          <p:cNvPr id="5" name="Text 2"/>
          <p:cNvSpPr/>
          <p:nvPr/>
        </p:nvSpPr>
        <p:spPr>
          <a:xfrm>
            <a:off x="793790" y="2794992"/>
            <a:ext cx="13042821" cy="362903"/>
          </a:xfrm>
          <a:prstGeom prst="rect">
            <a:avLst/>
          </a:prstGeom>
          <a:noFill/>
          <a:ln/>
        </p:spPr>
        <p:txBody>
          <a:bodyPr wrap="non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The Virtual Assistant simplifies daily planning with automation and smart logic.</a:t>
            </a:r>
            <a:endParaRPr lang="en-US" sz="1750" dirty="0"/>
          </a:p>
        </p:txBody>
      </p:sp>
      <p:sp>
        <p:nvSpPr>
          <p:cNvPr id="6" name="Text 3"/>
          <p:cNvSpPr/>
          <p:nvPr/>
        </p:nvSpPr>
        <p:spPr>
          <a:xfrm>
            <a:off x="793790" y="3413046"/>
            <a:ext cx="13042821" cy="362903"/>
          </a:xfrm>
          <a:prstGeom prst="rect">
            <a:avLst/>
          </a:prstGeom>
          <a:noFill/>
          <a:ln/>
        </p:spPr>
        <p:txBody>
          <a:bodyPr wrap="non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It combines voice input features to make scheduling effortless and hands-free.</a:t>
            </a:r>
            <a:endParaRPr lang="en-US" sz="1750" dirty="0"/>
          </a:p>
        </p:txBody>
      </p:sp>
      <p:sp>
        <p:nvSpPr>
          <p:cNvPr id="7" name="Text 4"/>
          <p:cNvSpPr/>
          <p:nvPr/>
        </p:nvSpPr>
        <p:spPr>
          <a:xfrm>
            <a:off x="793790" y="4031099"/>
            <a:ext cx="13042821" cy="362903"/>
          </a:xfrm>
          <a:prstGeom prst="rect">
            <a:avLst/>
          </a:prstGeom>
          <a:noFill/>
          <a:ln/>
        </p:spPr>
        <p:txBody>
          <a:bodyPr wrap="non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Ideal for students and professionals aiming to manage their time effectively and boost productivity.</a:t>
            </a:r>
            <a:endParaRPr lang="en-US" sz="1750" dirty="0"/>
          </a:p>
        </p:txBody>
      </p:sp>
      <p:sp>
        <p:nvSpPr>
          <p:cNvPr id="8" name="Shape 5"/>
          <p:cNvSpPr/>
          <p:nvPr/>
        </p:nvSpPr>
        <p:spPr>
          <a:xfrm>
            <a:off x="793790" y="4904303"/>
            <a:ext cx="510302" cy="510302"/>
          </a:xfrm>
          <a:prstGeom prst="roundRect">
            <a:avLst>
              <a:gd name="adj" fmla="val 18669"/>
            </a:avLst>
          </a:prstGeom>
          <a:solidFill>
            <a:srgbClr val="FCE2CF"/>
          </a:solidFill>
          <a:ln w="7620">
            <a:solidFill>
              <a:srgbClr val="E2C8B5"/>
            </a:solidFill>
            <a:prstDash val="solid"/>
          </a:ln>
        </p:spPr>
      </p:sp>
      <p:pic>
        <p:nvPicPr>
          <p:cNvPr id="9" name="Image 1" descr="preencoded.png"/>
          <p:cNvPicPr>
            <a:picLocks noChangeAspect="1"/>
          </p:cNvPicPr>
          <p:nvPr/>
        </p:nvPicPr>
        <p:blipFill>
          <a:blip r:embed="rId4"/>
          <a:stretch>
            <a:fillRect/>
          </a:stretch>
        </p:blipFill>
        <p:spPr>
          <a:xfrm>
            <a:off x="878860" y="4946809"/>
            <a:ext cx="340162" cy="425291"/>
          </a:xfrm>
          <a:prstGeom prst="rect">
            <a:avLst/>
          </a:prstGeom>
        </p:spPr>
      </p:pic>
      <p:sp>
        <p:nvSpPr>
          <p:cNvPr id="10" name="Text 6"/>
          <p:cNvSpPr/>
          <p:nvPr/>
        </p:nvSpPr>
        <p:spPr>
          <a:xfrm>
            <a:off x="1530906" y="4904303"/>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Automation</a:t>
            </a:r>
            <a:endParaRPr lang="en-US" sz="2200" dirty="0"/>
          </a:p>
        </p:txBody>
      </p:sp>
      <p:sp>
        <p:nvSpPr>
          <p:cNvPr id="11" name="Text 7"/>
          <p:cNvSpPr/>
          <p:nvPr/>
        </p:nvSpPr>
        <p:spPr>
          <a:xfrm>
            <a:off x="1530906" y="5394722"/>
            <a:ext cx="3459242" cy="1088708"/>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Automatically suggests optimal time slots and manages task conflicts.</a:t>
            </a:r>
            <a:endParaRPr lang="en-US" sz="1750" dirty="0"/>
          </a:p>
        </p:txBody>
      </p:sp>
      <p:sp>
        <p:nvSpPr>
          <p:cNvPr id="12" name="Shape 8"/>
          <p:cNvSpPr/>
          <p:nvPr/>
        </p:nvSpPr>
        <p:spPr>
          <a:xfrm>
            <a:off x="5216962" y="4904303"/>
            <a:ext cx="510302" cy="510302"/>
          </a:xfrm>
          <a:prstGeom prst="roundRect">
            <a:avLst>
              <a:gd name="adj" fmla="val 18669"/>
            </a:avLst>
          </a:prstGeom>
          <a:solidFill>
            <a:srgbClr val="FCE2CF"/>
          </a:solidFill>
          <a:ln w="7620">
            <a:solidFill>
              <a:srgbClr val="E2C8B5"/>
            </a:solidFill>
            <a:prstDash val="solid"/>
          </a:ln>
        </p:spPr>
      </p:sp>
      <p:pic>
        <p:nvPicPr>
          <p:cNvPr id="13" name="Image 2" descr="preencoded.png"/>
          <p:cNvPicPr>
            <a:picLocks noChangeAspect="1"/>
          </p:cNvPicPr>
          <p:nvPr/>
        </p:nvPicPr>
        <p:blipFill>
          <a:blip r:embed="rId5"/>
          <a:stretch>
            <a:fillRect/>
          </a:stretch>
        </p:blipFill>
        <p:spPr>
          <a:xfrm>
            <a:off x="5302032" y="4946809"/>
            <a:ext cx="340162" cy="425291"/>
          </a:xfrm>
          <a:prstGeom prst="rect">
            <a:avLst/>
          </a:prstGeom>
        </p:spPr>
      </p:pic>
      <p:sp>
        <p:nvSpPr>
          <p:cNvPr id="14" name="Text 9"/>
          <p:cNvSpPr/>
          <p:nvPr/>
        </p:nvSpPr>
        <p:spPr>
          <a:xfrm>
            <a:off x="5954078" y="4904303"/>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Smart Logic</a:t>
            </a:r>
            <a:endParaRPr lang="en-US" sz="2200" dirty="0"/>
          </a:p>
        </p:txBody>
      </p:sp>
      <p:sp>
        <p:nvSpPr>
          <p:cNvPr id="15" name="Text 10"/>
          <p:cNvSpPr/>
          <p:nvPr/>
        </p:nvSpPr>
        <p:spPr>
          <a:xfrm>
            <a:off x="5954078" y="5394722"/>
            <a:ext cx="3459242" cy="725805"/>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Prioritizes tasks based on urgency and individual routines.</a:t>
            </a:r>
            <a:endParaRPr lang="en-US" sz="1750" dirty="0"/>
          </a:p>
        </p:txBody>
      </p:sp>
      <p:sp>
        <p:nvSpPr>
          <p:cNvPr id="16" name="Shape 11"/>
          <p:cNvSpPr/>
          <p:nvPr/>
        </p:nvSpPr>
        <p:spPr>
          <a:xfrm>
            <a:off x="9640133" y="4904303"/>
            <a:ext cx="510302" cy="510302"/>
          </a:xfrm>
          <a:prstGeom prst="roundRect">
            <a:avLst>
              <a:gd name="adj" fmla="val 18669"/>
            </a:avLst>
          </a:prstGeom>
          <a:solidFill>
            <a:srgbClr val="FCE2CF"/>
          </a:solidFill>
          <a:ln w="7620">
            <a:solidFill>
              <a:srgbClr val="E2C8B5"/>
            </a:solidFill>
            <a:prstDash val="solid"/>
          </a:ln>
        </p:spPr>
      </p:sp>
      <p:pic>
        <p:nvPicPr>
          <p:cNvPr id="17" name="Image 3" descr="preencoded.png"/>
          <p:cNvPicPr>
            <a:picLocks noChangeAspect="1"/>
          </p:cNvPicPr>
          <p:nvPr/>
        </p:nvPicPr>
        <p:blipFill>
          <a:blip r:embed="rId6"/>
          <a:stretch>
            <a:fillRect/>
          </a:stretch>
        </p:blipFill>
        <p:spPr>
          <a:xfrm>
            <a:off x="9725204" y="4946809"/>
            <a:ext cx="340162" cy="425291"/>
          </a:xfrm>
          <a:prstGeom prst="rect">
            <a:avLst/>
          </a:prstGeom>
        </p:spPr>
      </p:pic>
      <p:sp>
        <p:nvSpPr>
          <p:cNvPr id="18" name="Text 12"/>
          <p:cNvSpPr/>
          <p:nvPr/>
        </p:nvSpPr>
        <p:spPr>
          <a:xfrm>
            <a:off x="10377249" y="4904303"/>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Voice Input</a:t>
            </a:r>
            <a:endParaRPr lang="en-US" sz="2200" dirty="0"/>
          </a:p>
        </p:txBody>
      </p:sp>
      <p:sp>
        <p:nvSpPr>
          <p:cNvPr id="19" name="Text 13"/>
          <p:cNvSpPr/>
          <p:nvPr/>
        </p:nvSpPr>
        <p:spPr>
          <a:xfrm>
            <a:off x="10377249" y="5394722"/>
            <a:ext cx="3459242" cy="1088708"/>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Enables hands-free task management for seamless scheduling.</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33410"/>
          </a:xfrm>
          <a:prstGeom prst="rect">
            <a:avLst/>
          </a:prstGeom>
        </p:spPr>
      </p:pic>
      <p:sp>
        <p:nvSpPr>
          <p:cNvPr id="3" name="Text 0"/>
          <p:cNvSpPr/>
          <p:nvPr/>
        </p:nvSpPr>
        <p:spPr>
          <a:xfrm>
            <a:off x="789503" y="620316"/>
            <a:ext cx="7564993" cy="972741"/>
          </a:xfrm>
          <a:prstGeom prst="rect">
            <a:avLst/>
          </a:prstGeom>
          <a:noFill/>
          <a:ln/>
        </p:spPr>
        <p:txBody>
          <a:bodyPr wrap="none" lIns="0" tIns="0" rIns="0" bIns="0" rtlCol="0" anchor="t"/>
          <a:lstStyle/>
          <a:p>
            <a:pPr marL="0" indent="0" algn="l">
              <a:lnSpc>
                <a:spcPts val="7650"/>
              </a:lnSpc>
              <a:buNone/>
            </a:pPr>
            <a:r>
              <a:rPr lang="en-US" sz="6100" kern="0" spc="-184" dirty="0">
                <a:solidFill>
                  <a:srgbClr val="2C3F42"/>
                </a:solidFill>
                <a:latin typeface="Bitter Medium" pitchFamily="34" charset="0"/>
                <a:ea typeface="Bitter Medium" pitchFamily="34" charset="-122"/>
                <a:cs typeface="Bitter Medium" pitchFamily="34" charset="-120"/>
              </a:rPr>
              <a:t>Thank You</a:t>
            </a:r>
            <a:endParaRPr lang="en-US" sz="6100" dirty="0"/>
          </a:p>
        </p:txBody>
      </p:sp>
      <p:sp>
        <p:nvSpPr>
          <p:cNvPr id="4" name="Text 1"/>
          <p:cNvSpPr/>
          <p:nvPr/>
        </p:nvSpPr>
        <p:spPr>
          <a:xfrm>
            <a:off x="789503" y="1931313"/>
            <a:ext cx="7564993" cy="360998"/>
          </a:xfrm>
          <a:prstGeom prst="rect">
            <a:avLst/>
          </a:prstGeom>
          <a:noFill/>
          <a:ln/>
        </p:spPr>
        <p:txBody>
          <a:bodyPr wrap="none" lIns="0" tIns="0" rIns="0" bIns="0" rtlCol="0" anchor="t"/>
          <a:lstStyle/>
          <a:p>
            <a:pPr marL="0" indent="0" algn="l">
              <a:lnSpc>
                <a:spcPts val="2800"/>
              </a:lnSpc>
              <a:buNone/>
            </a:pPr>
            <a:r>
              <a:rPr lang="en-US" sz="1750" kern="0" spc="-36" dirty="0">
                <a:solidFill>
                  <a:srgbClr val="2B2E3C"/>
                </a:solidFill>
                <a:latin typeface="Open Sans" pitchFamily="34" charset="0"/>
                <a:ea typeface="Open Sans" pitchFamily="34" charset="-122"/>
                <a:cs typeface="Open Sans" pitchFamily="34" charset="-120"/>
              </a:rPr>
              <a:t>Any questions? We're here to help you manage time smartly.</a:t>
            </a:r>
            <a:endParaRPr lang="en-US" sz="1750" dirty="0"/>
          </a:p>
        </p:txBody>
      </p:sp>
      <p:pic>
        <p:nvPicPr>
          <p:cNvPr id="5" name="Image 1" descr="preencoded.png"/>
          <p:cNvPicPr>
            <a:picLocks noChangeAspect="1"/>
          </p:cNvPicPr>
          <p:nvPr/>
        </p:nvPicPr>
        <p:blipFill>
          <a:blip r:embed="rId4"/>
          <a:stretch>
            <a:fillRect/>
          </a:stretch>
        </p:blipFill>
        <p:spPr>
          <a:xfrm>
            <a:off x="789503" y="2546033"/>
            <a:ext cx="563880" cy="563880"/>
          </a:xfrm>
          <a:prstGeom prst="rect">
            <a:avLst/>
          </a:prstGeom>
        </p:spPr>
      </p:pic>
      <p:sp>
        <p:nvSpPr>
          <p:cNvPr id="6" name="Text 2"/>
          <p:cNvSpPr/>
          <p:nvPr/>
        </p:nvSpPr>
        <p:spPr>
          <a:xfrm>
            <a:off x="789503" y="3335417"/>
            <a:ext cx="2296120" cy="352425"/>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Contact with Us</a:t>
            </a:r>
            <a:endParaRPr lang="en-US" sz="2200" dirty="0"/>
          </a:p>
        </p:txBody>
      </p:sp>
      <p:sp>
        <p:nvSpPr>
          <p:cNvPr id="7" name="Text 3"/>
          <p:cNvSpPr/>
          <p:nvPr/>
        </p:nvSpPr>
        <p:spPr>
          <a:xfrm>
            <a:off x="789503" y="3823097"/>
            <a:ext cx="2296120" cy="721995"/>
          </a:xfrm>
          <a:prstGeom prst="rect">
            <a:avLst/>
          </a:prstGeom>
          <a:noFill/>
          <a:ln/>
        </p:spPr>
        <p:txBody>
          <a:bodyPr wrap="square" lIns="0" tIns="0" rIns="0" bIns="0" rtlCol="0" anchor="t"/>
          <a:lstStyle/>
          <a:p>
            <a:pPr marL="0" indent="0" algn="l">
              <a:lnSpc>
                <a:spcPts val="2800"/>
              </a:lnSpc>
              <a:buNone/>
            </a:pPr>
            <a:r>
              <a:rPr lang="en-US" sz="1750" kern="0" spc="-36" dirty="0">
                <a:solidFill>
                  <a:srgbClr val="2B2E3C"/>
                </a:solidFill>
                <a:latin typeface="Open Sans" pitchFamily="34" charset="0"/>
                <a:ea typeface="Open Sans" pitchFamily="34" charset="-122"/>
                <a:cs typeface="Open Sans" pitchFamily="34" charset="-120"/>
              </a:rPr>
              <a:t>lahari_kalluru@srmap.edu.in</a:t>
            </a:r>
            <a:endParaRPr lang="en-US" sz="1750" dirty="0"/>
          </a:p>
        </p:txBody>
      </p:sp>
      <p:sp>
        <p:nvSpPr>
          <p:cNvPr id="8" name="Text 4"/>
          <p:cNvSpPr/>
          <p:nvPr/>
        </p:nvSpPr>
        <p:spPr>
          <a:xfrm>
            <a:off x="789503" y="4680347"/>
            <a:ext cx="2296120" cy="721995"/>
          </a:xfrm>
          <a:prstGeom prst="rect">
            <a:avLst/>
          </a:prstGeom>
          <a:noFill/>
          <a:ln/>
        </p:spPr>
        <p:txBody>
          <a:bodyPr wrap="square" lIns="0" tIns="0" rIns="0" bIns="0" rtlCol="0" anchor="t"/>
          <a:lstStyle/>
          <a:p>
            <a:pPr marL="0" indent="0" algn="l">
              <a:lnSpc>
                <a:spcPts val="2800"/>
              </a:lnSpc>
              <a:buNone/>
            </a:pPr>
            <a:r>
              <a:rPr lang="en-US" sz="1750" kern="0" spc="-36" dirty="0">
                <a:solidFill>
                  <a:srgbClr val="2B2E3C"/>
                </a:solidFill>
                <a:latin typeface="Open Sans" pitchFamily="34" charset="0"/>
                <a:ea typeface="Open Sans" pitchFamily="34" charset="-122"/>
                <a:cs typeface="Open Sans" pitchFamily="34" charset="-120"/>
              </a:rPr>
              <a:t>nafeesa_shaik@srmap.edu.in</a:t>
            </a:r>
            <a:endParaRPr lang="en-US" sz="1750" dirty="0"/>
          </a:p>
        </p:txBody>
      </p:sp>
      <p:sp>
        <p:nvSpPr>
          <p:cNvPr id="9" name="Text 5"/>
          <p:cNvSpPr/>
          <p:nvPr/>
        </p:nvSpPr>
        <p:spPr>
          <a:xfrm>
            <a:off x="789503" y="5537597"/>
            <a:ext cx="2296120" cy="721995"/>
          </a:xfrm>
          <a:prstGeom prst="rect">
            <a:avLst/>
          </a:prstGeom>
          <a:noFill/>
          <a:ln/>
        </p:spPr>
        <p:txBody>
          <a:bodyPr wrap="square" lIns="0" tIns="0" rIns="0" bIns="0" rtlCol="0" anchor="t"/>
          <a:lstStyle/>
          <a:p>
            <a:pPr marL="0" indent="0" algn="l">
              <a:lnSpc>
                <a:spcPts val="2800"/>
              </a:lnSpc>
              <a:buNone/>
            </a:pPr>
            <a:r>
              <a:rPr lang="en-US" sz="1750" kern="0" spc="-36" dirty="0">
                <a:solidFill>
                  <a:srgbClr val="2B2E3C"/>
                </a:solidFill>
                <a:latin typeface="Open Sans" pitchFamily="34" charset="0"/>
                <a:ea typeface="Open Sans" pitchFamily="34" charset="-122"/>
                <a:cs typeface="Open Sans" pitchFamily="34" charset="-120"/>
              </a:rPr>
              <a:t>purnanandkumar_sah@srmap.edu.in</a:t>
            </a:r>
            <a:endParaRPr lang="en-US" sz="1750" dirty="0"/>
          </a:p>
        </p:txBody>
      </p:sp>
      <p:sp>
        <p:nvSpPr>
          <p:cNvPr id="10" name="Text 6"/>
          <p:cNvSpPr/>
          <p:nvPr/>
        </p:nvSpPr>
        <p:spPr>
          <a:xfrm>
            <a:off x="789503" y="6394847"/>
            <a:ext cx="2296120" cy="721995"/>
          </a:xfrm>
          <a:prstGeom prst="rect">
            <a:avLst/>
          </a:prstGeom>
          <a:noFill/>
          <a:ln/>
        </p:spPr>
        <p:txBody>
          <a:bodyPr wrap="square" lIns="0" tIns="0" rIns="0" bIns="0" rtlCol="0" anchor="t"/>
          <a:lstStyle/>
          <a:p>
            <a:pPr marL="0" indent="0" algn="l">
              <a:lnSpc>
                <a:spcPts val="2800"/>
              </a:lnSpc>
              <a:buNone/>
            </a:pPr>
            <a:r>
              <a:rPr lang="en-US" sz="1750" kern="0" spc="-36" dirty="0">
                <a:solidFill>
                  <a:srgbClr val="2B2E3C"/>
                </a:solidFill>
                <a:latin typeface="Open Sans" pitchFamily="34" charset="0"/>
                <a:ea typeface="Open Sans" pitchFamily="34" charset="-122"/>
                <a:cs typeface="Open Sans" pitchFamily="34" charset="-120"/>
              </a:rPr>
              <a:t>jaybardhan_gohiwar@srmap.edu.in</a:t>
            </a:r>
            <a:endParaRPr lang="en-US" sz="1750" dirty="0"/>
          </a:p>
        </p:txBody>
      </p:sp>
      <p:sp>
        <p:nvSpPr>
          <p:cNvPr id="11" name="Text 7"/>
          <p:cNvSpPr/>
          <p:nvPr/>
        </p:nvSpPr>
        <p:spPr>
          <a:xfrm>
            <a:off x="789503" y="7252097"/>
            <a:ext cx="2296120" cy="360998"/>
          </a:xfrm>
          <a:prstGeom prst="rect">
            <a:avLst/>
          </a:prstGeom>
          <a:noFill/>
          <a:ln/>
        </p:spPr>
        <p:txBody>
          <a:bodyPr wrap="none" lIns="0" tIns="0" rIns="0" bIns="0" rtlCol="0" anchor="t"/>
          <a:lstStyle/>
          <a:p>
            <a:pPr marL="0" indent="0" algn="l">
              <a:lnSpc>
                <a:spcPts val="2800"/>
              </a:lnSpc>
              <a:buNone/>
            </a:pPr>
            <a:endParaRPr lang="en-US" sz="1750" dirty="0"/>
          </a:p>
        </p:txBody>
      </p:sp>
      <p:pic>
        <p:nvPicPr>
          <p:cNvPr id="12" name="Image 2" descr="preencoded.png"/>
          <p:cNvPicPr>
            <a:picLocks noChangeAspect="1"/>
          </p:cNvPicPr>
          <p:nvPr/>
        </p:nvPicPr>
        <p:blipFill>
          <a:blip r:embed="rId5"/>
          <a:stretch>
            <a:fillRect/>
          </a:stretch>
        </p:blipFill>
        <p:spPr>
          <a:xfrm>
            <a:off x="3423880" y="2546033"/>
            <a:ext cx="563880" cy="563880"/>
          </a:xfrm>
          <a:prstGeom prst="rect">
            <a:avLst/>
          </a:prstGeom>
        </p:spPr>
      </p:pic>
      <p:sp>
        <p:nvSpPr>
          <p:cNvPr id="13" name="Text 8"/>
          <p:cNvSpPr/>
          <p:nvPr/>
        </p:nvSpPr>
        <p:spPr>
          <a:xfrm>
            <a:off x="3423880" y="3335417"/>
            <a:ext cx="2296120" cy="352425"/>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Next Steps</a:t>
            </a:r>
            <a:endParaRPr lang="en-US" sz="2200" dirty="0"/>
          </a:p>
        </p:txBody>
      </p:sp>
      <p:sp>
        <p:nvSpPr>
          <p:cNvPr id="14" name="Text 9"/>
          <p:cNvSpPr/>
          <p:nvPr/>
        </p:nvSpPr>
        <p:spPr>
          <a:xfrm>
            <a:off x="3423880" y="3823097"/>
            <a:ext cx="2296120" cy="1082993"/>
          </a:xfrm>
          <a:prstGeom prst="rect">
            <a:avLst/>
          </a:prstGeom>
          <a:noFill/>
          <a:ln/>
        </p:spPr>
        <p:txBody>
          <a:bodyPr wrap="square" lIns="0" tIns="0" rIns="0" bIns="0" rtlCol="0" anchor="t"/>
          <a:lstStyle/>
          <a:p>
            <a:pPr marL="0" indent="0" algn="l">
              <a:lnSpc>
                <a:spcPts val="2800"/>
              </a:lnSpc>
              <a:buNone/>
            </a:pPr>
            <a:r>
              <a:rPr lang="en-US" sz="1750" kern="0" spc="-36" dirty="0">
                <a:solidFill>
                  <a:srgbClr val="2B2E3C"/>
                </a:solidFill>
                <a:latin typeface="Open Sans" pitchFamily="34" charset="0"/>
                <a:ea typeface="Open Sans" pitchFamily="34" charset="-122"/>
                <a:cs typeface="Open Sans" pitchFamily="34" charset="-120"/>
              </a:rPr>
              <a:t>Explore smart scheduling to optimize your daily routine.</a:t>
            </a:r>
            <a:endParaRPr lang="en-US" sz="1750" dirty="0"/>
          </a:p>
        </p:txBody>
      </p:sp>
      <p:pic>
        <p:nvPicPr>
          <p:cNvPr id="15" name="Image 3" descr="preencoded.png"/>
          <p:cNvPicPr>
            <a:picLocks noChangeAspect="1"/>
          </p:cNvPicPr>
          <p:nvPr/>
        </p:nvPicPr>
        <p:blipFill>
          <a:blip r:embed="rId6"/>
          <a:stretch>
            <a:fillRect/>
          </a:stretch>
        </p:blipFill>
        <p:spPr>
          <a:xfrm>
            <a:off x="6058257" y="2546033"/>
            <a:ext cx="563880" cy="563880"/>
          </a:xfrm>
          <a:prstGeom prst="rect">
            <a:avLst/>
          </a:prstGeom>
        </p:spPr>
      </p:pic>
      <p:sp>
        <p:nvSpPr>
          <p:cNvPr id="16" name="Text 10"/>
          <p:cNvSpPr/>
          <p:nvPr/>
        </p:nvSpPr>
        <p:spPr>
          <a:xfrm>
            <a:off x="6058257" y="3335417"/>
            <a:ext cx="2296239" cy="352425"/>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Stay Productive</a:t>
            </a:r>
            <a:endParaRPr lang="en-US" sz="2200" dirty="0"/>
          </a:p>
        </p:txBody>
      </p:sp>
      <p:sp>
        <p:nvSpPr>
          <p:cNvPr id="17" name="Text 11"/>
          <p:cNvSpPr/>
          <p:nvPr/>
        </p:nvSpPr>
        <p:spPr>
          <a:xfrm>
            <a:off x="6058257" y="3823097"/>
            <a:ext cx="2296239" cy="1082993"/>
          </a:xfrm>
          <a:prstGeom prst="rect">
            <a:avLst/>
          </a:prstGeom>
          <a:noFill/>
          <a:ln/>
        </p:spPr>
        <p:txBody>
          <a:bodyPr wrap="square" lIns="0" tIns="0" rIns="0" bIns="0" rtlCol="0" anchor="t"/>
          <a:lstStyle/>
          <a:p>
            <a:pPr marL="0" indent="0" algn="l">
              <a:lnSpc>
                <a:spcPts val="2800"/>
              </a:lnSpc>
              <a:buNone/>
            </a:pPr>
            <a:r>
              <a:rPr lang="en-US" sz="1750" kern="0" spc="-36" dirty="0">
                <a:solidFill>
                  <a:srgbClr val="2B2E3C"/>
                </a:solidFill>
                <a:latin typeface="Open Sans" pitchFamily="34" charset="0"/>
                <a:ea typeface="Open Sans" pitchFamily="34" charset="-122"/>
                <a:cs typeface="Open Sans" pitchFamily="34" charset="-120"/>
              </a:rPr>
              <a:t>Use our tools to boost efficiency and balance commitments.</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517</Words>
  <Application>Microsoft Office PowerPoint</Application>
  <PresentationFormat>Custom</PresentationFormat>
  <Paragraphs>92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Bitter Medium</vt:lpstr>
      <vt:lpstr>Arial</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KETAN SAH</cp:lastModifiedBy>
  <cp:revision>2</cp:revision>
  <dcterms:created xsi:type="dcterms:W3CDTF">2025-04-21T16:03:55Z</dcterms:created>
  <dcterms:modified xsi:type="dcterms:W3CDTF">2025-04-21T16:23:52Z</dcterms:modified>
</cp:coreProperties>
</file>